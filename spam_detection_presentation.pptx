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 am presenting my final internship project: an AI-Powered Spam Email Detection System. This project showcases the culmination of my work as an AI/ML Engineering Intern. We'll explore how Python, Scikit-Learn, TF-IDF, and Streamlit came together to build a robust solution. This system tackles a critical challenge in our digital world. It's a practical application of machine learning to a pervasive problem. Let's dive into why this matters so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our title slide, we know we're addressing spam, and here's why it's such a critical issue. Over 45% of all emails sent globally are spam, making it a massive and persistent threat. This isn't just an annoyance; it's a primary vector for phishing attacks and financial fraud, leading to significant security risks. For businesses, this translates into massive productivity losses and potential data breaches. Traditional rule-based filters simply can't keep up with evolving spam tactics. Machine Learning offers a dynamic defense, adapting to new patterns for higher accuracy. This adaptability is key to protecting digital communication effectively. Now, let's look at the data that fueled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successful AI project starts with high-quality data, and for this system, I utilized the SMS Spam Collection Dataset. It contains over 5,500 messages, categorized into 'Ham'—legitimate messages—and 'Spam.' As you can see, we're dealing with a significant class imbalance, with only about 13% of messages being spam. This imbalance is a classic challenge in fraud detection, requiring careful handling. To prepare this data, I performed extensive cleaning, including lowercasing, removing special characters and stop words, and stemming. These steps ensure the model focuses on the semantic meaning of words, providing a clean foundation for the next stage. This data preparation was a crucial first step in our project's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journey, starting with that dataset, unfolded over a focused four-week sprint. Week one was all about laying the foundation: deep data exploration, meticulous cleaning, and initial preprocessing. This ensured our data was pristine and ready for modeling. In week two, I established a baseline using a Multinomial Naive Bayes model, which gave us our initial performance benchmarks. Week three was dedicated to optimization, employing GridSearchCV and cross-validation to fine-tune hyperparameters for peak performance. Finally, week four brought it all together with the development of a Streamlit web application and the deployment of our finalized model. This structured approach allowed us to build a robust system, which I'll now explain through its core machine learning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illustrates the internal logic of our system, the machine learning pipeline itself. It begins when a user provides raw email or SMS text as input. This text then undergoes rigorous preprocessing, including cleaning, tokenization, and stemming, to remove irrelevant information. Next, we use TF-IDF—Term Frequency-Inverse Document Frequency—to convert this cleaned text into a numerical format that our machine learning model can understand. This numerical representation is then fed into our optimized ML model for classification. The system doesn't just output 'Spam' or 'Ham'; it also provides a confidence score, giving users insight into the prediction's certainty. This entire pipeline is designed for fast inference, scalable design, and robust accuracy. Now, let's see how our optimization efforts improved this pipeline's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outlining the pipeline, let's look at the tangible impact of our optimization efforts. We didn't just build a system; we refined it for peak performance. The numbers speak for themselves: our Week 3 optimized model significantly outperformed the Week 2 baseline across all key metrics. This isn't just about bigger percentages; it's about making the system truly reliable. A 6.2% increase in precision is particularly critical. It means we drastically reduced false positives, ensuring that important, legitimate emails don't get mistakenly flagged as spam. This directly translates to a better user experience and greater trust in the system. Now, let's explore how we made this high-performing model accessible to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our optimized model, we needed a robust way to deliver its power. This architecture diagram shows how we moved from a concept to a functional, user-facing application. Streamlit provides a clean, responsive frontend, making interaction intuitive for anyone. When a user inputs text, our Python backend, the prediction engine, springs into action. It quickly loads the pre-trained model and vectorizer, processing the input in milliseconds. This design emphasizes a stateless API and fast I/O, which means it's incredibly efficient and ready for the cloud. This setup ensures our high-performing model is not just accurate, but also fast and scalable for real-world use. Let's see this architecture in action with a live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all the hard work comes to life. We focused on a clean, professional interface, leveraging Microsoft Fluent Design principles for a seamless user experience. The application's home page clearly explains its purpose, and the input area is straightforward: paste your text, hit analyze, and get instant results. The system provides immediate, color-coded feedback. Green for legitimate messages, red for spam, making the classification clear at a glance. We also included a confidence meter, giving users insight into the model's certainty. This transparency builds trust and helps users understand the AI's decision-making process. Now, let's dive into the specific tools that made this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bring this project to fruition, we relied on a robust and modern technology stack. Python was the backbone, providing the flexibility for both data science and web development. Pandas and NumPy were essential for efficient data manipulation, ensuring our data was always in top shape. Scikit-Learn handled the heavy lifting of machine learning, from model training to evaluation. NLTK was crucial for text preprocessing, cleaning our data for optimal model performance. Streamlit then allowed us to quickly build the interactive web application you just saw. And, of course, GitHub ensured all our code was version-controlled and collaborative. This combination of tools allowed us to build a powerful, end-to-end solution efficiently.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results confirm the system's readiness for real-world application. With an overall accuracy of 98.5%, the model is highly reliable. Looking at the Confusion Matrix and ROC curves, we see that the model maintains excellent separation between classes, even with the inherent imbalance of the dataset. Beyond the technical metrics, the business value is clear. The system is incredibly fast, providing predictions in milliseconds, and it's built to scale. By successfully identifying the vast majority of spam threats, this tool directly contributes to user safety and digital hygiene, fulfilling the core objective of the internship project. This strong performance sets the stage for discussing the challenges we faced and our future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project is without its challenges. The primary hurdle was the class imbalance in the dataset, which I managed by focusing on the F1-score rather than just accuracy. We also have to acknowledge that spam is a moving target; attackers are always finding new ways to bypass filters. Looking ahead, there are exciting paths for improvement. Moving from traditional ML to Deep Learning models like BERT would allow the system to understand the deeper context and nuance of language. Integrating LLMs could even allow the system to explain why it thinks a message is spam. Finally, implementing full CI/CD pipelines would make the deployment process even more seamless and professional. This brings us to the conclusion of our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four-week internship has been an incredible journey of learning and creation. I have successfully moved from a raw dataset to a fully functional, high-accuracy AI application that addresses a critical cybersecurity challenge. Through this project, I've deepened my expertise in Natural Language Processing, model optimization, and the full lifecycle of software deployment. I want to extend my sincere thanks to my mentors and the entire team for their invaluable support and guidance throughout this process. It has been a privilege to work on a project with such clear real-world utility. Thank you for your time, and I am now happy to answer any questions you may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35769" y="1294135"/>
            <a:ext cx="5220630" cy="778669"/>
          </a:xfrm>
          <a:prstGeom prst="rect">
            <a:avLst/>
          </a:prstGeom>
          <a:noFill/>
          <a:ln/>
        </p:spPr>
        <p:txBody>
          <a:bodyPr wrap="square" lIns="0" tIns="0" rIns="0" bIns="0" rtlCol="0" anchor="t">
            <a:spAutoFit/>
          </a:bodyPr>
          <a:lstStyle/>
          <a:p>
            <a:pPr algn="l" indent="0" marL="0">
              <a:buNone/>
            </a:pPr>
            <a:r>
              <a:rPr lang="en-US" sz="2450" b="1" spc="2" kern="0" dirty="0">
                <a:solidFill>
                  <a:srgbClr val="002244"/>
                </a:solidFill>
                <a:latin typeface="Courier New" pitchFamily="34" charset="0"/>
                <a:ea typeface="Courier New" pitchFamily="34" charset="-122"/>
                <a:cs typeface="Courier New" pitchFamily="34" charset="-120"/>
              </a:rPr>
              <a:t>AI-POWERED SPAM</a:t>
            </a:r>
            <a:r>
              <a:rPr lang="en-US" sz="2450" b="1" spc="2" kern="0" dirty="0">
                <a:solidFill>
                  <a:srgbClr val="002244"/>
                </a:solidFill>
                <a:latin typeface="Courier New" pitchFamily="34" charset="0"/>
                <a:ea typeface="Courier New" pitchFamily="34" charset="-122"/>
                <a:cs typeface="Courier New" pitchFamily="34" charset="-120"/>
              </a:rPr>
              <a:t>
</a:t>
            </a:r>
            <a:r>
              <a:rPr lang="en-US" sz="2450" b="1" spc="2" kern="0" dirty="0">
                <a:solidFill>
                  <a:srgbClr val="002244"/>
                </a:solidFill>
                <a:latin typeface="Courier New" pitchFamily="34" charset="0"/>
                <a:ea typeface="Courier New" pitchFamily="34" charset="-122"/>
                <a:cs typeface="Courier New" pitchFamily="34" charset="-120"/>
              </a:rPr>
              <a:t>EMAIL DETECTION</a:t>
            </a:r>
            <a:endParaRPr lang="en-US" sz="2450" dirty="0"/>
          </a:p>
        </p:txBody>
      </p:sp>
      <p:sp>
        <p:nvSpPr>
          <p:cNvPr id="5" name="Text 1"/>
          <p:cNvSpPr/>
          <p:nvPr/>
        </p:nvSpPr>
        <p:spPr>
          <a:xfrm>
            <a:off x="435769" y="2372841"/>
            <a:ext cx="5220630" cy="196453"/>
          </a:xfrm>
          <a:prstGeom prst="rect">
            <a:avLst/>
          </a:prstGeom>
          <a:noFill/>
          <a:ln/>
        </p:spPr>
        <p:txBody>
          <a:bodyPr wrap="square" lIns="0" tIns="0" rIns="0" bIns="0" rtlCol="0" anchor="t">
            <a:spAutoFit/>
          </a:bodyPr>
          <a:lstStyle/>
          <a:p>
            <a:pPr algn="l" indent="0" marL="0">
              <a:buNone/>
            </a:pPr>
            <a:r>
              <a:rPr lang="en-US" sz="1250" dirty="0">
                <a:solidFill>
                  <a:srgbClr val="333333"/>
                </a:solidFill>
                <a:latin typeface="Segoe UI" pitchFamily="34" charset="0"/>
                <a:ea typeface="Segoe UI" pitchFamily="34" charset="-122"/>
                <a:cs typeface="Segoe UI" pitchFamily="34" charset="-120"/>
              </a:rPr>
              <a:t>Week 4 Final Internship Project Showcase</a:t>
            </a:r>
            <a:endParaRPr lang="en-US" sz="1250" dirty="0"/>
          </a:p>
        </p:txBody>
      </p:sp>
      <p:pic>
        <p:nvPicPr>
          <p:cNvPr id="6" name="Image 1" descr="preencoded.png">    </p:cNvPr>
          <p:cNvPicPr>
            <a:picLocks noChangeAspect="1"/>
          </p:cNvPicPr>
          <p:nvPr/>
        </p:nvPicPr>
        <p:blipFill>
          <a:blip r:embed="rId2"/>
          <a:stretch>
            <a:fillRect/>
          </a:stretch>
        </p:blipFill>
        <p:spPr>
          <a:xfrm>
            <a:off x="435769" y="3952280"/>
            <a:ext cx="178594" cy="142875"/>
          </a:xfrm>
          <a:prstGeom prst="rect">
            <a:avLst/>
          </a:prstGeom>
        </p:spPr>
      </p:pic>
      <p:sp>
        <p:nvSpPr>
          <p:cNvPr id="7" name="Text 2"/>
          <p:cNvSpPr/>
          <p:nvPr/>
        </p:nvSpPr>
        <p:spPr>
          <a:xfrm>
            <a:off x="700088" y="3943350"/>
            <a:ext cx="788882" cy="160734"/>
          </a:xfrm>
          <a:prstGeom prst="rect">
            <a:avLst/>
          </a:prstGeom>
          <a:noFill/>
          <a:ln/>
        </p:spPr>
        <p:txBody>
          <a:bodyPr wrap="none" lIns="0" tIns="0" rIns="0" bIns="0" rtlCol="0" anchor="t">
            <a:spAutoFit/>
          </a:bodyPr>
          <a:lstStyle/>
          <a:p>
            <a:pPr algn="l" indent="0" marL="0">
              <a:buNone/>
            </a:pPr>
            <a:r>
              <a:rPr lang="en-US" sz="1050" dirty="0">
                <a:solidFill>
                  <a:srgbClr val="333333"/>
                </a:solidFill>
                <a:latin typeface="Segoe UI" pitchFamily="34" charset="0"/>
                <a:ea typeface="Segoe UI" pitchFamily="34" charset="-122"/>
                <a:cs typeface="Segoe UI" pitchFamily="34" charset="-120"/>
              </a:rPr>
              <a:t>[Your Name]</a:t>
            </a:r>
            <a:endParaRPr lang="en-US" sz="1050" dirty="0"/>
          </a:p>
        </p:txBody>
      </p:sp>
      <p:pic>
        <p:nvPicPr>
          <p:cNvPr id="8" name="Image 2" descr="preencoded.png">    </p:cNvPr>
          <p:cNvPicPr>
            <a:picLocks noChangeAspect="1"/>
          </p:cNvPicPr>
          <p:nvPr/>
        </p:nvPicPr>
        <p:blipFill>
          <a:blip r:embed="rId3"/>
          <a:stretch>
            <a:fillRect/>
          </a:stretch>
        </p:blipFill>
        <p:spPr>
          <a:xfrm>
            <a:off x="435769" y="4170164"/>
            <a:ext cx="178594" cy="142875"/>
          </a:xfrm>
          <a:prstGeom prst="rect">
            <a:avLst/>
          </a:prstGeom>
        </p:spPr>
      </p:pic>
      <p:sp>
        <p:nvSpPr>
          <p:cNvPr id="9" name="Text 3"/>
          <p:cNvSpPr/>
          <p:nvPr/>
        </p:nvSpPr>
        <p:spPr>
          <a:xfrm>
            <a:off x="700088" y="4161234"/>
            <a:ext cx="1575197" cy="160734"/>
          </a:xfrm>
          <a:prstGeom prst="rect">
            <a:avLst/>
          </a:prstGeom>
          <a:noFill/>
          <a:ln/>
        </p:spPr>
        <p:txBody>
          <a:bodyPr wrap="square" lIns="0" tIns="0" rIns="0" bIns="0" rtlCol="0" anchor="t">
            <a:spAutoFit/>
          </a:bodyPr>
          <a:lstStyle/>
          <a:p>
            <a:pPr algn="l" indent="0" marL="0">
              <a:buNone/>
            </a:pPr>
            <a:r>
              <a:rPr lang="en-US" sz="1050" dirty="0">
                <a:solidFill>
                  <a:srgbClr val="333333"/>
                </a:solidFill>
                <a:latin typeface="Segoe UI" pitchFamily="34" charset="0"/>
                <a:ea typeface="Segoe UI" pitchFamily="34" charset="-122"/>
                <a:cs typeface="Segoe UI" pitchFamily="34" charset="-120"/>
              </a:rPr>
              <a:t>AI/ML Engineering Intern</a:t>
            </a:r>
            <a:endParaRPr lang="en-US" sz="1050" dirty="0"/>
          </a:p>
        </p:txBody>
      </p:sp>
      <p:pic>
        <p:nvPicPr>
          <p:cNvPr id="10" name="Image 3" descr="preencoded.png">    </p:cNvPr>
          <p:cNvPicPr>
            <a:picLocks noChangeAspect="1"/>
          </p:cNvPicPr>
          <p:nvPr/>
        </p:nvPicPr>
        <p:blipFill>
          <a:blip r:embed="rId4"/>
          <a:stretch>
            <a:fillRect/>
          </a:stretch>
        </p:blipFill>
        <p:spPr>
          <a:xfrm>
            <a:off x="491412" y="4464844"/>
            <a:ext cx="200025" cy="228600"/>
          </a:xfrm>
          <a:prstGeom prst="rect">
            <a:avLst/>
          </a:prstGeom>
        </p:spPr>
      </p:pic>
      <p:sp>
        <p:nvSpPr>
          <p:cNvPr id="11" name="Text 4"/>
          <p:cNvSpPr/>
          <p:nvPr/>
        </p:nvSpPr>
        <p:spPr>
          <a:xfrm>
            <a:off x="435769" y="4736306"/>
            <a:ext cx="311367" cy="114300"/>
          </a:xfrm>
          <a:prstGeom prst="rect">
            <a:avLst/>
          </a:prstGeom>
          <a:noFill/>
          <a:ln/>
        </p:spPr>
        <p:txBody>
          <a:bodyPr wrap="none" lIns="0" tIns="0" rIns="0" bIns="0" rtlCol="0" anchor="t">
            <a:spAutoFit/>
          </a:bodyPr>
          <a:lstStyle/>
          <a:p>
            <a:pPr algn="l" indent="0" marL="0">
              <a:buNone/>
            </a:pPr>
            <a:r>
              <a:rPr lang="en-US" sz="750" dirty="0">
                <a:solidFill>
                  <a:srgbClr val="002244"/>
                </a:solidFill>
                <a:latin typeface="Segoe UI" pitchFamily="34" charset="0"/>
                <a:ea typeface="Segoe UI" pitchFamily="34" charset="-122"/>
                <a:cs typeface="Segoe UI" pitchFamily="34" charset="-120"/>
              </a:rPr>
              <a:t>Python</a:t>
            </a:r>
            <a:endParaRPr lang="en-US" sz="750" dirty="0"/>
          </a:p>
        </p:txBody>
      </p:sp>
      <p:pic>
        <p:nvPicPr>
          <p:cNvPr id="12" name="Image 4" descr="preencoded.png">    </p:cNvPr>
          <p:cNvPicPr>
            <a:picLocks noChangeAspect="1"/>
          </p:cNvPicPr>
          <p:nvPr/>
        </p:nvPicPr>
        <p:blipFill>
          <a:blip r:embed="rId5"/>
          <a:stretch>
            <a:fillRect/>
          </a:stretch>
        </p:blipFill>
        <p:spPr>
          <a:xfrm>
            <a:off x="1039750" y="4464844"/>
            <a:ext cx="228600" cy="228600"/>
          </a:xfrm>
          <a:prstGeom prst="rect">
            <a:avLst/>
          </a:prstGeom>
        </p:spPr>
      </p:pic>
      <p:sp>
        <p:nvSpPr>
          <p:cNvPr id="13" name="Text 5"/>
          <p:cNvSpPr/>
          <p:nvPr/>
        </p:nvSpPr>
        <p:spPr>
          <a:xfrm>
            <a:off x="890011" y="4736306"/>
            <a:ext cx="528079" cy="114300"/>
          </a:xfrm>
          <a:prstGeom prst="rect">
            <a:avLst/>
          </a:prstGeom>
          <a:noFill/>
          <a:ln/>
        </p:spPr>
        <p:txBody>
          <a:bodyPr wrap="none" lIns="0" tIns="0" rIns="0" bIns="0" rtlCol="0" anchor="t">
            <a:spAutoFit/>
          </a:bodyPr>
          <a:lstStyle/>
          <a:p>
            <a:pPr algn="l" indent="0" marL="0">
              <a:buNone/>
            </a:pPr>
            <a:r>
              <a:rPr lang="en-US" sz="750" dirty="0">
                <a:solidFill>
                  <a:srgbClr val="002244"/>
                </a:solidFill>
                <a:latin typeface="Segoe UI" pitchFamily="34" charset="0"/>
                <a:ea typeface="Segoe UI" pitchFamily="34" charset="-122"/>
                <a:cs typeface="Segoe UI" pitchFamily="34" charset="-120"/>
              </a:rPr>
              <a:t>Scikit-Learn</a:t>
            </a:r>
            <a:endParaRPr lang="en-US" sz="750" dirty="0"/>
          </a:p>
        </p:txBody>
      </p:sp>
      <p:pic>
        <p:nvPicPr>
          <p:cNvPr id="14" name="Image 5" descr="preencoded.png">    </p:cNvPr>
          <p:cNvPicPr>
            <a:picLocks noChangeAspect="1"/>
          </p:cNvPicPr>
          <p:nvPr/>
        </p:nvPicPr>
        <p:blipFill>
          <a:blip r:embed="rId6"/>
          <a:stretch>
            <a:fillRect/>
          </a:stretch>
        </p:blipFill>
        <p:spPr>
          <a:xfrm>
            <a:off x="1619231" y="4464844"/>
            <a:ext cx="200025" cy="228600"/>
          </a:xfrm>
          <a:prstGeom prst="rect">
            <a:avLst/>
          </a:prstGeom>
        </p:spPr>
      </p:pic>
      <p:sp>
        <p:nvSpPr>
          <p:cNvPr id="15" name="Text 6"/>
          <p:cNvSpPr/>
          <p:nvPr/>
        </p:nvSpPr>
        <p:spPr>
          <a:xfrm>
            <a:off x="1560965" y="4736306"/>
            <a:ext cx="316613" cy="114300"/>
          </a:xfrm>
          <a:prstGeom prst="rect">
            <a:avLst/>
          </a:prstGeom>
          <a:noFill/>
          <a:ln/>
        </p:spPr>
        <p:txBody>
          <a:bodyPr wrap="none" lIns="0" tIns="0" rIns="0" bIns="0" rtlCol="0" anchor="t">
            <a:spAutoFit/>
          </a:bodyPr>
          <a:lstStyle/>
          <a:p>
            <a:pPr algn="l" indent="0" marL="0">
              <a:buNone/>
            </a:pPr>
            <a:r>
              <a:rPr lang="en-US" sz="750" dirty="0">
                <a:solidFill>
                  <a:srgbClr val="002244"/>
                </a:solidFill>
                <a:latin typeface="Segoe UI" pitchFamily="34" charset="0"/>
                <a:ea typeface="Segoe UI" pitchFamily="34" charset="-122"/>
                <a:cs typeface="Segoe UI" pitchFamily="34" charset="-120"/>
              </a:rPr>
              <a:t>TF-IDF</a:t>
            </a:r>
            <a:endParaRPr lang="en-US" sz="750" dirty="0"/>
          </a:p>
        </p:txBody>
      </p:sp>
      <p:pic>
        <p:nvPicPr>
          <p:cNvPr id="16" name="Image 6" descr="preencoded.png">    </p:cNvPr>
          <p:cNvPicPr>
            <a:picLocks noChangeAspect="1"/>
          </p:cNvPicPr>
          <p:nvPr/>
        </p:nvPicPr>
        <p:blipFill>
          <a:blip r:embed="rId7"/>
          <a:stretch>
            <a:fillRect/>
          </a:stretch>
        </p:blipFill>
        <p:spPr>
          <a:xfrm>
            <a:off x="2103444" y="4464844"/>
            <a:ext cx="228600" cy="228600"/>
          </a:xfrm>
          <a:prstGeom prst="rect">
            <a:avLst/>
          </a:prstGeom>
        </p:spPr>
      </p:pic>
      <p:sp>
        <p:nvSpPr>
          <p:cNvPr id="17" name="Text 7"/>
          <p:cNvSpPr/>
          <p:nvPr/>
        </p:nvSpPr>
        <p:spPr>
          <a:xfrm>
            <a:off x="2020453" y="4736306"/>
            <a:ext cx="394581" cy="114300"/>
          </a:xfrm>
          <a:prstGeom prst="rect">
            <a:avLst/>
          </a:prstGeom>
          <a:noFill/>
          <a:ln/>
        </p:spPr>
        <p:txBody>
          <a:bodyPr wrap="none" lIns="0" tIns="0" rIns="0" bIns="0" rtlCol="0" anchor="t">
            <a:spAutoFit/>
          </a:bodyPr>
          <a:lstStyle/>
          <a:p>
            <a:pPr algn="l" indent="0" marL="0">
              <a:buNone/>
            </a:pPr>
            <a:r>
              <a:rPr lang="en-US" sz="750" dirty="0">
                <a:solidFill>
                  <a:srgbClr val="002244"/>
                </a:solidFill>
                <a:latin typeface="Segoe UI" pitchFamily="34" charset="0"/>
                <a:ea typeface="Segoe UI" pitchFamily="34" charset="-122"/>
                <a:cs typeface="Segoe UI" pitchFamily="34" charset="-120"/>
              </a:rPr>
              <a:t>Streamlit</a:t>
            </a:r>
            <a:endParaRPr lang="en-US" sz="750" dirty="0"/>
          </a:p>
        </p:txBody>
      </p:sp>
      <p:sp>
        <p:nvSpPr>
          <p:cNvPr id="18" name="Shape 8"/>
          <p:cNvSpPr/>
          <p:nvPr/>
        </p:nvSpPr>
        <p:spPr>
          <a:xfrm>
            <a:off x="5656399" y="7144"/>
            <a:ext cx="3480457" cy="5129213"/>
          </a:xfrm>
          <a:prstGeom prst="rect">
            <a:avLst/>
          </a:prstGeom>
          <a:solidFill>
            <a:srgbClr val="002244"/>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35769" y="649188"/>
            <a:ext cx="8272463" cy="292894"/>
          </a:xfrm>
          <a:prstGeom prst="rect">
            <a:avLst/>
          </a:prstGeom>
          <a:noFill/>
          <a:ln/>
        </p:spPr>
        <p:txBody>
          <a:bodyPr wrap="square" lIns="0" tIns="0" rIns="0" bIns="0" rtlCol="0" anchor="t">
            <a:spAutoFit/>
          </a:bodyPr>
          <a:lstStyle/>
          <a:p>
            <a:pPr algn="l" indent="0" marL="0">
              <a:buNone/>
            </a:pPr>
            <a:r>
              <a:rPr lang="en-US" sz="1800" b="1" spc="2" kern="0" dirty="0">
                <a:solidFill>
                  <a:srgbClr val="002244"/>
                </a:solidFill>
                <a:latin typeface="Courier New" pitchFamily="34" charset="0"/>
                <a:ea typeface="Courier New" pitchFamily="34" charset="-122"/>
                <a:cs typeface="Courier New" pitchFamily="34" charset="-120"/>
              </a:rPr>
              <a:t>THE CRITICAL NEED FOR SPAM DETECTION</a:t>
            </a:r>
            <a:endParaRPr lang="en-US" sz="1800" dirty="0"/>
          </a:p>
        </p:txBody>
      </p:sp>
      <p:sp>
        <p:nvSpPr>
          <p:cNvPr id="5" name="Text 1"/>
          <p:cNvSpPr/>
          <p:nvPr/>
        </p:nvSpPr>
        <p:spPr>
          <a:xfrm>
            <a:off x="435769" y="1084957"/>
            <a:ext cx="8272463" cy="160734"/>
          </a:xfrm>
          <a:prstGeom prst="rect">
            <a:avLst/>
          </a:prstGeom>
          <a:noFill/>
          <a:ln/>
        </p:spPr>
        <p:txBody>
          <a:bodyPr wrap="square" lIns="0" tIns="0" rIns="0" bIns="0" rtlCol="0" anchor="t">
            <a:spAutoFit/>
          </a:bodyPr>
          <a:lstStyle/>
          <a:p>
            <a:pPr algn="l" indent="0" marL="0">
              <a:buNone/>
            </a:pPr>
            <a:r>
              <a:rPr lang="en-US" sz="1050" dirty="0">
                <a:solidFill>
                  <a:srgbClr val="666666"/>
                </a:solidFill>
                <a:latin typeface="Segoe UI" pitchFamily="34" charset="0"/>
                <a:ea typeface="Segoe UI" pitchFamily="34" charset="-122"/>
                <a:cs typeface="Segoe UI" pitchFamily="34" charset="-120"/>
              </a:rPr>
              <a:t>Protecting Digital Communication in a Hyper-Connected World</a:t>
            </a:r>
            <a:endParaRPr lang="en-US" sz="1050" dirty="0"/>
          </a:p>
        </p:txBody>
      </p:sp>
      <p:sp>
        <p:nvSpPr>
          <p:cNvPr id="6" name="Shape 2"/>
          <p:cNvSpPr/>
          <p:nvPr/>
        </p:nvSpPr>
        <p:spPr>
          <a:xfrm>
            <a:off x="435769" y="1417141"/>
            <a:ext cx="1982391" cy="1332309"/>
          </a:xfrm>
          <a:prstGeom prst="rect">
            <a:avLst/>
          </a:prstGeom>
          <a:solidFill>
            <a:srgbClr val="FFFFFF"/>
          </a:solidFill>
          <a:ln w="18288">
            <a:solidFill>
              <a:srgbClr val="002244"/>
            </a:solidFill>
            <a:prstDash val="solid"/>
          </a:ln>
        </p:spPr>
      </p:sp>
      <p:pic>
        <p:nvPicPr>
          <p:cNvPr id="7" name="Image 1" descr="preencoded.png">    </p:cNvPr>
          <p:cNvPicPr>
            <a:picLocks noChangeAspect="1"/>
          </p:cNvPicPr>
          <p:nvPr/>
        </p:nvPicPr>
        <p:blipFill>
          <a:blip r:embed="rId2"/>
          <a:stretch>
            <a:fillRect/>
          </a:stretch>
        </p:blipFill>
        <p:spPr>
          <a:xfrm>
            <a:off x="564356" y="1531441"/>
            <a:ext cx="1725216" cy="228600"/>
          </a:xfrm>
          <a:prstGeom prst="rect">
            <a:avLst/>
          </a:prstGeom>
        </p:spPr>
      </p:pic>
      <p:sp>
        <p:nvSpPr>
          <p:cNvPr id="8" name="Text 3"/>
          <p:cNvSpPr/>
          <p:nvPr/>
        </p:nvSpPr>
        <p:spPr>
          <a:xfrm>
            <a:off x="564356" y="1817191"/>
            <a:ext cx="1725216" cy="160734"/>
          </a:xfrm>
          <a:prstGeom prst="rect">
            <a:avLst/>
          </a:prstGeom>
          <a:noFill/>
          <a:ln/>
        </p:spPr>
        <p:txBody>
          <a:bodyPr wrap="square" lIns="0" tIns="0" rIns="0" bIns="0" rtlCol="0" anchor="t">
            <a:spAutoFit/>
          </a:bodyPr>
          <a:lstStyle/>
          <a:p>
            <a:pPr algn="l" indent="0" marL="0">
              <a:buNone/>
            </a:pPr>
            <a:r>
              <a:rPr lang="en-US" sz="1000" b="1" dirty="0">
                <a:solidFill>
                  <a:srgbClr val="002244"/>
                </a:solidFill>
                <a:latin typeface="Courier New" pitchFamily="34" charset="0"/>
                <a:ea typeface="Courier New" pitchFamily="34" charset="-122"/>
                <a:cs typeface="Courier New" pitchFamily="34" charset="-120"/>
              </a:rPr>
              <a:t>GROWING THREAT</a:t>
            </a:r>
            <a:endParaRPr lang="en-US" sz="1000" dirty="0"/>
          </a:p>
        </p:txBody>
      </p:sp>
      <p:sp>
        <p:nvSpPr>
          <p:cNvPr id="9" name="Text 4"/>
          <p:cNvSpPr/>
          <p:nvPr/>
        </p:nvSpPr>
        <p:spPr>
          <a:xfrm>
            <a:off x="692944" y="2042220"/>
            <a:ext cx="1531107" cy="128588"/>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33333"/>
                </a:solidFill>
                <a:latin typeface="Segoe UI" pitchFamily="34" charset="0"/>
                <a:ea typeface="Segoe UI" pitchFamily="34" charset="-122"/>
                <a:cs typeface="Segoe UI" pitchFamily="34" charset="-120"/>
              </a:rPr>
              <a:t>Over 45% of global emails are</a:t>
            </a:r>
            <a:endParaRPr lang="en-US" sz="850" dirty="0"/>
          </a:p>
        </p:txBody>
      </p:sp>
      <p:sp>
        <p:nvSpPr>
          <p:cNvPr id="10" name="Text 5"/>
          <p:cNvSpPr/>
          <p:nvPr/>
        </p:nvSpPr>
        <p:spPr>
          <a:xfrm>
            <a:off x="564356" y="2213670"/>
            <a:ext cx="311255" cy="128588"/>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33333"/>
                </a:solidFill>
                <a:latin typeface="Segoe UI" pitchFamily="34" charset="0"/>
                <a:ea typeface="Segoe UI" pitchFamily="34" charset="-122"/>
                <a:cs typeface="Segoe UI" pitchFamily="34" charset="-120"/>
              </a:rPr>
              <a:t>spam.</a:t>
            </a:r>
            <a:endParaRPr lang="en-US" sz="850" dirty="0"/>
          </a:p>
        </p:txBody>
      </p:sp>
      <p:sp>
        <p:nvSpPr>
          <p:cNvPr id="11" name="Text 6"/>
          <p:cNvSpPr/>
          <p:nvPr/>
        </p:nvSpPr>
        <p:spPr>
          <a:xfrm>
            <a:off x="692944" y="2385120"/>
            <a:ext cx="1550026" cy="128588"/>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33333"/>
                </a:solidFill>
                <a:latin typeface="Segoe UI" pitchFamily="34" charset="0"/>
                <a:ea typeface="Segoe UI" pitchFamily="34" charset="-122"/>
                <a:cs typeface="Segoe UI" pitchFamily="34" charset="-120"/>
              </a:rPr>
              <a:t>Billions of malicious messages</a:t>
            </a:r>
            <a:endParaRPr lang="en-US" sz="850" dirty="0"/>
          </a:p>
        </p:txBody>
      </p:sp>
      <p:sp>
        <p:nvSpPr>
          <p:cNvPr id="12" name="Text 7"/>
          <p:cNvSpPr/>
          <p:nvPr/>
        </p:nvSpPr>
        <p:spPr>
          <a:xfrm>
            <a:off x="564356" y="2556570"/>
            <a:ext cx="506146" cy="128588"/>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33333"/>
                </a:solidFill>
                <a:latin typeface="Segoe UI" pitchFamily="34" charset="0"/>
                <a:ea typeface="Segoe UI" pitchFamily="34" charset="-122"/>
                <a:cs typeface="Segoe UI" pitchFamily="34" charset="-120"/>
              </a:rPr>
              <a:t>sent daily.</a:t>
            </a:r>
            <a:endParaRPr lang="en-US" sz="850" dirty="0"/>
          </a:p>
        </p:txBody>
      </p:sp>
      <p:sp>
        <p:nvSpPr>
          <p:cNvPr id="13" name="Shape 8"/>
          <p:cNvSpPr/>
          <p:nvPr/>
        </p:nvSpPr>
        <p:spPr>
          <a:xfrm>
            <a:off x="2532459" y="1417141"/>
            <a:ext cx="1982391" cy="1332309"/>
          </a:xfrm>
          <a:prstGeom prst="rect">
            <a:avLst/>
          </a:prstGeom>
          <a:solidFill>
            <a:srgbClr val="FFFFFF"/>
          </a:solidFill>
          <a:ln w="18288">
            <a:solidFill>
              <a:srgbClr val="002244"/>
            </a:solidFill>
            <a:prstDash val="solid"/>
          </a:ln>
        </p:spPr>
      </p:sp>
      <p:pic>
        <p:nvPicPr>
          <p:cNvPr id="14" name="Image 2" descr="preencoded.png">    </p:cNvPr>
          <p:cNvPicPr>
            <a:picLocks noChangeAspect="1"/>
          </p:cNvPicPr>
          <p:nvPr/>
        </p:nvPicPr>
        <p:blipFill>
          <a:blip r:embed="rId3"/>
          <a:stretch>
            <a:fillRect/>
          </a:stretch>
        </p:blipFill>
        <p:spPr>
          <a:xfrm>
            <a:off x="2661047" y="1531441"/>
            <a:ext cx="1725216" cy="228600"/>
          </a:xfrm>
          <a:prstGeom prst="rect">
            <a:avLst/>
          </a:prstGeom>
        </p:spPr>
      </p:pic>
      <p:sp>
        <p:nvSpPr>
          <p:cNvPr id="15" name="Text 9"/>
          <p:cNvSpPr/>
          <p:nvPr/>
        </p:nvSpPr>
        <p:spPr>
          <a:xfrm>
            <a:off x="2661047" y="1817191"/>
            <a:ext cx="1725216" cy="160734"/>
          </a:xfrm>
          <a:prstGeom prst="rect">
            <a:avLst/>
          </a:prstGeom>
          <a:noFill/>
          <a:ln/>
        </p:spPr>
        <p:txBody>
          <a:bodyPr wrap="square" lIns="0" tIns="0" rIns="0" bIns="0" rtlCol="0" anchor="t">
            <a:spAutoFit/>
          </a:bodyPr>
          <a:lstStyle/>
          <a:p>
            <a:pPr algn="l" indent="0" marL="0">
              <a:buNone/>
            </a:pPr>
            <a:r>
              <a:rPr lang="en-US" sz="1000" b="1" dirty="0">
                <a:solidFill>
                  <a:srgbClr val="002244"/>
                </a:solidFill>
                <a:latin typeface="Courier New" pitchFamily="34" charset="0"/>
                <a:ea typeface="Courier New" pitchFamily="34" charset="-122"/>
                <a:cs typeface="Courier New" pitchFamily="34" charset="-120"/>
              </a:rPr>
              <a:t>SECURITY RISKS</a:t>
            </a:r>
            <a:endParaRPr lang="en-US" sz="1000" dirty="0"/>
          </a:p>
        </p:txBody>
      </p:sp>
      <p:sp>
        <p:nvSpPr>
          <p:cNvPr id="16" name="Text 10"/>
          <p:cNvSpPr/>
          <p:nvPr/>
        </p:nvSpPr>
        <p:spPr>
          <a:xfrm>
            <a:off x="2789634" y="2042220"/>
            <a:ext cx="1372046" cy="128588"/>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33333"/>
                </a:solidFill>
                <a:latin typeface="Segoe UI" pitchFamily="34" charset="0"/>
                <a:ea typeface="Segoe UI" pitchFamily="34" charset="-122"/>
                <a:cs typeface="Segoe UI" pitchFamily="34" charset="-120"/>
              </a:rPr>
              <a:t>Primary vector for Phishing</a:t>
            </a:r>
            <a:endParaRPr lang="en-US" sz="850" dirty="0"/>
          </a:p>
        </p:txBody>
      </p:sp>
      <p:sp>
        <p:nvSpPr>
          <p:cNvPr id="17" name="Text 11"/>
          <p:cNvSpPr/>
          <p:nvPr/>
        </p:nvSpPr>
        <p:spPr>
          <a:xfrm>
            <a:off x="2661047" y="2213670"/>
            <a:ext cx="393855" cy="128588"/>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33333"/>
                </a:solidFill>
                <a:latin typeface="Segoe UI" pitchFamily="34" charset="0"/>
                <a:ea typeface="Segoe UI" pitchFamily="34" charset="-122"/>
                <a:cs typeface="Segoe UI" pitchFamily="34" charset="-120"/>
              </a:rPr>
              <a:t>attacks.</a:t>
            </a:r>
            <a:endParaRPr lang="en-US" sz="850" dirty="0"/>
          </a:p>
        </p:txBody>
      </p:sp>
      <p:sp>
        <p:nvSpPr>
          <p:cNvPr id="18" name="Text 12"/>
          <p:cNvSpPr/>
          <p:nvPr/>
        </p:nvSpPr>
        <p:spPr>
          <a:xfrm>
            <a:off x="2789634" y="2385120"/>
            <a:ext cx="1467594" cy="128588"/>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33333"/>
                </a:solidFill>
                <a:latin typeface="Segoe UI" pitchFamily="34" charset="0"/>
                <a:ea typeface="Segoe UI" pitchFamily="34" charset="-122"/>
                <a:cs typeface="Segoe UI" pitchFamily="34" charset="-120"/>
              </a:rPr>
              <a:t>Gateway for financial fraud &amp;</a:t>
            </a:r>
            <a:endParaRPr lang="en-US" sz="850" dirty="0"/>
          </a:p>
        </p:txBody>
      </p:sp>
      <p:sp>
        <p:nvSpPr>
          <p:cNvPr id="19" name="Text 13"/>
          <p:cNvSpPr/>
          <p:nvPr/>
        </p:nvSpPr>
        <p:spPr>
          <a:xfrm>
            <a:off x="2661047" y="2556570"/>
            <a:ext cx="648072" cy="128588"/>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33333"/>
                </a:solidFill>
                <a:latin typeface="Segoe UI" pitchFamily="34" charset="0"/>
                <a:ea typeface="Segoe UI" pitchFamily="34" charset="-122"/>
                <a:cs typeface="Segoe UI" pitchFamily="34" charset="-120"/>
              </a:rPr>
              <a:t>identity theft.</a:t>
            </a:r>
            <a:endParaRPr lang="en-US" sz="850" dirty="0"/>
          </a:p>
        </p:txBody>
      </p:sp>
      <p:sp>
        <p:nvSpPr>
          <p:cNvPr id="20" name="Shape 14"/>
          <p:cNvSpPr/>
          <p:nvPr/>
        </p:nvSpPr>
        <p:spPr>
          <a:xfrm>
            <a:off x="4629150" y="1417141"/>
            <a:ext cx="1982391" cy="1332309"/>
          </a:xfrm>
          <a:prstGeom prst="rect">
            <a:avLst/>
          </a:prstGeom>
          <a:solidFill>
            <a:srgbClr val="FFFFFF"/>
          </a:solidFill>
          <a:ln w="18288">
            <a:solidFill>
              <a:srgbClr val="002244"/>
            </a:solidFill>
            <a:prstDash val="solid"/>
          </a:ln>
        </p:spPr>
      </p:sp>
      <p:sp>
        <p:nvSpPr>
          <p:cNvPr id="21" name="Text 15"/>
          <p:cNvSpPr/>
          <p:nvPr/>
        </p:nvSpPr>
        <p:spPr>
          <a:xfrm>
            <a:off x="4757738" y="1588591"/>
            <a:ext cx="1725216" cy="160734"/>
          </a:xfrm>
          <a:prstGeom prst="rect">
            <a:avLst/>
          </a:prstGeom>
          <a:noFill/>
          <a:ln/>
        </p:spPr>
        <p:txBody>
          <a:bodyPr wrap="square" lIns="0" tIns="0" rIns="0" bIns="0" rtlCol="0" anchor="t">
            <a:spAutoFit/>
          </a:bodyPr>
          <a:lstStyle/>
          <a:p>
            <a:pPr algn="l" indent="0" marL="0">
              <a:buNone/>
            </a:pPr>
            <a:r>
              <a:rPr lang="en-US" sz="1000" b="1" dirty="0">
                <a:solidFill>
                  <a:srgbClr val="002244"/>
                </a:solidFill>
                <a:latin typeface="Courier New" pitchFamily="34" charset="0"/>
                <a:ea typeface="Courier New" pitchFamily="34" charset="-122"/>
                <a:cs typeface="Courier New" pitchFamily="34" charset="-120"/>
              </a:rPr>
              <a:t>BUSINESS LOSSES</a:t>
            </a:r>
            <a:endParaRPr lang="en-US" sz="1000" dirty="0"/>
          </a:p>
        </p:txBody>
      </p:sp>
      <p:sp>
        <p:nvSpPr>
          <p:cNvPr id="22" name="Text 16"/>
          <p:cNvSpPr/>
          <p:nvPr/>
        </p:nvSpPr>
        <p:spPr>
          <a:xfrm>
            <a:off x="4886325" y="1813620"/>
            <a:ext cx="1549915" cy="128588"/>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33333"/>
                </a:solidFill>
                <a:latin typeface="Segoe UI" pitchFamily="34" charset="0"/>
                <a:ea typeface="Segoe UI" pitchFamily="34" charset="-122"/>
                <a:cs typeface="Segoe UI" pitchFamily="34" charset="-120"/>
              </a:rPr>
              <a:t>Massive productivity losses for</a:t>
            </a:r>
            <a:endParaRPr lang="en-US" sz="850" dirty="0"/>
          </a:p>
        </p:txBody>
      </p:sp>
      <p:sp>
        <p:nvSpPr>
          <p:cNvPr id="23" name="Text 17"/>
          <p:cNvSpPr/>
          <p:nvPr/>
        </p:nvSpPr>
        <p:spPr>
          <a:xfrm>
            <a:off x="4757738" y="1985070"/>
            <a:ext cx="343012" cy="128588"/>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33333"/>
                </a:solidFill>
                <a:latin typeface="Segoe UI" pitchFamily="34" charset="0"/>
                <a:ea typeface="Segoe UI" pitchFamily="34" charset="-122"/>
                <a:cs typeface="Segoe UI" pitchFamily="34" charset="-120"/>
              </a:rPr>
              <a:t>teams.</a:t>
            </a:r>
            <a:endParaRPr lang="en-US" sz="850" dirty="0"/>
          </a:p>
        </p:txBody>
      </p:sp>
      <p:sp>
        <p:nvSpPr>
          <p:cNvPr id="24" name="Text 18"/>
          <p:cNvSpPr/>
          <p:nvPr/>
        </p:nvSpPr>
        <p:spPr>
          <a:xfrm>
            <a:off x="4886325" y="2156520"/>
            <a:ext cx="1512187" cy="128588"/>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33333"/>
                </a:solidFill>
                <a:latin typeface="Segoe UI" pitchFamily="34" charset="0"/>
                <a:ea typeface="Segoe UI" pitchFamily="34" charset="-122"/>
                <a:cs typeface="Segoe UI" pitchFamily="34" charset="-120"/>
              </a:rPr>
              <a:t>Potential for catastrophic data</a:t>
            </a:r>
            <a:endParaRPr lang="en-US" sz="850" dirty="0"/>
          </a:p>
        </p:txBody>
      </p:sp>
      <p:sp>
        <p:nvSpPr>
          <p:cNvPr id="25" name="Text 19"/>
          <p:cNvSpPr/>
          <p:nvPr/>
        </p:nvSpPr>
        <p:spPr>
          <a:xfrm>
            <a:off x="4757738" y="2327970"/>
            <a:ext cx="501960" cy="128588"/>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33333"/>
                </a:solidFill>
                <a:latin typeface="Segoe UI" pitchFamily="34" charset="0"/>
                <a:ea typeface="Segoe UI" pitchFamily="34" charset="-122"/>
                <a:cs typeface="Segoe UI" pitchFamily="34" charset="-120"/>
              </a:rPr>
              <a:t>breaches.</a:t>
            </a:r>
            <a:endParaRPr lang="en-US" sz="850" dirty="0"/>
          </a:p>
        </p:txBody>
      </p:sp>
      <p:sp>
        <p:nvSpPr>
          <p:cNvPr id="26" name="Shape 20"/>
          <p:cNvSpPr/>
          <p:nvPr/>
        </p:nvSpPr>
        <p:spPr>
          <a:xfrm>
            <a:off x="6725841" y="1417141"/>
            <a:ext cx="1982391" cy="1332309"/>
          </a:xfrm>
          <a:prstGeom prst="rect">
            <a:avLst/>
          </a:prstGeom>
          <a:solidFill>
            <a:srgbClr val="FFFFFF"/>
          </a:solidFill>
          <a:ln w="18288">
            <a:solidFill>
              <a:srgbClr val="002244"/>
            </a:solidFill>
            <a:prstDash val="solid"/>
          </a:ln>
        </p:spPr>
      </p:sp>
      <p:pic>
        <p:nvPicPr>
          <p:cNvPr id="27" name="Image 3" descr="preencoded.png">    </p:cNvPr>
          <p:cNvPicPr>
            <a:picLocks noChangeAspect="1"/>
          </p:cNvPicPr>
          <p:nvPr/>
        </p:nvPicPr>
        <p:blipFill>
          <a:blip r:embed="rId4"/>
          <a:stretch>
            <a:fillRect/>
          </a:stretch>
        </p:blipFill>
        <p:spPr>
          <a:xfrm>
            <a:off x="6854428" y="1531441"/>
            <a:ext cx="1725216" cy="228600"/>
          </a:xfrm>
          <a:prstGeom prst="rect">
            <a:avLst/>
          </a:prstGeom>
        </p:spPr>
      </p:pic>
      <p:sp>
        <p:nvSpPr>
          <p:cNvPr id="28" name="Text 21"/>
          <p:cNvSpPr/>
          <p:nvPr/>
        </p:nvSpPr>
        <p:spPr>
          <a:xfrm>
            <a:off x="6854428" y="1817191"/>
            <a:ext cx="1725216" cy="160734"/>
          </a:xfrm>
          <a:prstGeom prst="rect">
            <a:avLst/>
          </a:prstGeom>
          <a:noFill/>
          <a:ln/>
        </p:spPr>
        <p:txBody>
          <a:bodyPr wrap="square" lIns="0" tIns="0" rIns="0" bIns="0" rtlCol="0" anchor="t">
            <a:spAutoFit/>
          </a:bodyPr>
          <a:lstStyle/>
          <a:p>
            <a:pPr algn="l" indent="0" marL="0">
              <a:buNone/>
            </a:pPr>
            <a:r>
              <a:rPr lang="en-US" sz="1000" b="1" dirty="0">
                <a:solidFill>
                  <a:srgbClr val="002244"/>
                </a:solidFill>
                <a:latin typeface="Courier New" pitchFamily="34" charset="0"/>
                <a:ea typeface="Courier New" pitchFamily="34" charset="-122"/>
                <a:cs typeface="Courier New" pitchFamily="34" charset="-120"/>
              </a:rPr>
              <a:t>ML ADVANTAGE</a:t>
            </a:r>
            <a:endParaRPr lang="en-US" sz="1000" dirty="0"/>
          </a:p>
        </p:txBody>
      </p:sp>
      <p:sp>
        <p:nvSpPr>
          <p:cNvPr id="29" name="Text 22"/>
          <p:cNvSpPr/>
          <p:nvPr/>
        </p:nvSpPr>
        <p:spPr>
          <a:xfrm>
            <a:off x="6983016" y="2042220"/>
            <a:ext cx="1245301" cy="128588"/>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33333"/>
                </a:solidFill>
                <a:latin typeface="Segoe UI" pitchFamily="34" charset="0"/>
                <a:ea typeface="Segoe UI" pitchFamily="34" charset="-122"/>
                <a:cs typeface="Segoe UI" pitchFamily="34" charset="-120"/>
              </a:rPr>
              <a:t>Adapts to evolving spam</a:t>
            </a:r>
            <a:endParaRPr lang="en-US" sz="850" dirty="0"/>
          </a:p>
        </p:txBody>
      </p:sp>
      <p:sp>
        <p:nvSpPr>
          <p:cNvPr id="30" name="Text 23"/>
          <p:cNvSpPr/>
          <p:nvPr/>
        </p:nvSpPr>
        <p:spPr>
          <a:xfrm>
            <a:off x="6854428" y="2213670"/>
            <a:ext cx="444754" cy="128588"/>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33333"/>
                </a:solidFill>
                <a:latin typeface="Segoe UI" pitchFamily="34" charset="0"/>
                <a:ea typeface="Segoe UI" pitchFamily="34" charset="-122"/>
                <a:cs typeface="Segoe UI" pitchFamily="34" charset="-120"/>
              </a:rPr>
              <a:t>patterns.</a:t>
            </a:r>
            <a:endParaRPr lang="en-US" sz="850" dirty="0"/>
          </a:p>
        </p:txBody>
      </p:sp>
      <p:sp>
        <p:nvSpPr>
          <p:cNvPr id="31" name="Text 24"/>
          <p:cNvSpPr/>
          <p:nvPr/>
        </p:nvSpPr>
        <p:spPr>
          <a:xfrm>
            <a:off x="6983016" y="2385120"/>
            <a:ext cx="1340458" cy="128588"/>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33333"/>
                </a:solidFill>
                <a:latin typeface="Segoe UI" pitchFamily="34" charset="0"/>
                <a:ea typeface="Segoe UI" pitchFamily="34" charset="-122"/>
                <a:cs typeface="Segoe UI" pitchFamily="34" charset="-120"/>
              </a:rPr>
              <a:t>Higher accuracy than rule-</a:t>
            </a:r>
            <a:endParaRPr lang="en-US" sz="850" dirty="0"/>
          </a:p>
        </p:txBody>
      </p:sp>
      <p:sp>
        <p:nvSpPr>
          <p:cNvPr id="32" name="Text 25"/>
          <p:cNvSpPr/>
          <p:nvPr/>
        </p:nvSpPr>
        <p:spPr>
          <a:xfrm>
            <a:off x="6854428" y="2556570"/>
            <a:ext cx="648016" cy="128588"/>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33333"/>
                </a:solidFill>
                <a:latin typeface="Segoe UI" pitchFamily="34" charset="0"/>
                <a:ea typeface="Segoe UI" pitchFamily="34" charset="-122"/>
                <a:cs typeface="Segoe UI" pitchFamily="34" charset="-120"/>
              </a:rPr>
              <a:t>based filters.</a:t>
            </a:r>
            <a:endParaRPr lang="en-US" sz="850" dirty="0"/>
          </a:p>
        </p:txBody>
      </p:sp>
      <p:sp>
        <p:nvSpPr>
          <p:cNvPr id="33" name="Text 26"/>
          <p:cNvSpPr/>
          <p:nvPr/>
        </p:nvSpPr>
        <p:spPr>
          <a:xfrm>
            <a:off x="435769" y="2820888"/>
            <a:ext cx="8272463" cy="175022"/>
          </a:xfrm>
          <a:prstGeom prst="rect">
            <a:avLst/>
          </a:prstGeom>
          <a:noFill/>
          <a:ln/>
        </p:spPr>
        <p:txBody>
          <a:bodyPr wrap="square" lIns="153035" tIns="51054" rIns="0" bIns="0" rtlCol="0" anchor="t">
            <a:spAutoFit/>
          </a:bodyPr>
          <a:lstStyle/>
          <a:p>
            <a:pPr algn="l" indent="0" marL="0">
              <a:buNone/>
            </a:pPr>
            <a:r>
              <a:rPr lang="en-US" sz="850" i="1" dirty="0">
                <a:solidFill>
                  <a:srgbClr val="333333"/>
                </a:solidFill>
                <a:latin typeface="Segoe UI" pitchFamily="34" charset="0"/>
                <a:ea typeface="Segoe UI" pitchFamily="34" charset="-122"/>
                <a:cs typeface="Segoe UI" pitchFamily="34" charset="-120"/>
              </a:rPr>
              <a:t>Machine Learning provides a dynamic defense against sophisticated, evolving email threats.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57150" y="57150"/>
            <a:ext cx="9029700" cy="5143500"/>
          </a:xfrm>
          <a:prstGeom prst="rect">
            <a:avLst/>
          </a:prstGeom>
        </p:spPr>
      </p:pic>
      <p:sp>
        <p:nvSpPr>
          <p:cNvPr id="4" name="Text 0"/>
          <p:cNvSpPr/>
          <p:nvPr/>
        </p:nvSpPr>
        <p:spPr>
          <a:xfrm>
            <a:off x="635794" y="682619"/>
            <a:ext cx="3993356" cy="257175"/>
          </a:xfrm>
          <a:prstGeom prst="rect">
            <a:avLst/>
          </a:prstGeom>
          <a:noFill/>
          <a:ln/>
        </p:spPr>
        <p:txBody>
          <a:bodyPr wrap="square" lIns="0" tIns="0" rIns="0" bIns="0" rtlCol="0" anchor="t">
            <a:spAutoFit/>
          </a:bodyPr>
          <a:lstStyle/>
          <a:p>
            <a:pPr algn="l" indent="0" marL="0">
              <a:buNone/>
            </a:pPr>
            <a:r>
              <a:rPr lang="en-US" sz="1600" b="1" spc="2" kern="0" dirty="0">
                <a:solidFill>
                  <a:srgbClr val="002244"/>
                </a:solidFill>
                <a:latin typeface="Courier New" pitchFamily="34" charset="0"/>
                <a:ea typeface="Courier New" pitchFamily="34" charset="-122"/>
                <a:cs typeface="Courier New" pitchFamily="34" charset="-120"/>
              </a:rPr>
              <a:t>DATASET OVERVIEW</a:t>
            </a:r>
            <a:endParaRPr lang="en-US" sz="1600" dirty="0"/>
          </a:p>
        </p:txBody>
      </p:sp>
      <p:sp>
        <p:nvSpPr>
          <p:cNvPr id="5" name="Text 1"/>
          <p:cNvSpPr/>
          <p:nvPr/>
        </p:nvSpPr>
        <p:spPr>
          <a:xfrm>
            <a:off x="635794" y="1068381"/>
            <a:ext cx="3993356" cy="150019"/>
          </a:xfrm>
          <a:prstGeom prst="rect">
            <a:avLst/>
          </a:prstGeom>
          <a:noFill/>
          <a:ln/>
        </p:spPr>
        <p:txBody>
          <a:bodyPr wrap="square" lIns="0" tIns="0" rIns="0" bIns="0" rtlCol="0" anchor="t">
            <a:spAutoFit/>
          </a:bodyPr>
          <a:lstStyle/>
          <a:p>
            <a:pPr algn="l" indent="0" marL="0">
              <a:buNone/>
            </a:pPr>
            <a:r>
              <a:rPr lang="en-US" sz="950" dirty="0">
                <a:solidFill>
                  <a:srgbClr val="666666"/>
                </a:solidFill>
                <a:latin typeface="Segoe UI" pitchFamily="34" charset="0"/>
                <a:ea typeface="Segoe UI" pitchFamily="34" charset="-122"/>
                <a:cs typeface="Segoe UI" pitchFamily="34" charset="-120"/>
              </a:rPr>
              <a:t>Foundation of the SMS Spam Detection Model</a:t>
            </a:r>
            <a:endParaRPr lang="en-US" sz="950" dirty="0"/>
          </a:p>
        </p:txBody>
      </p:sp>
      <p:sp>
        <p:nvSpPr>
          <p:cNvPr id="6" name="Text 2"/>
          <p:cNvSpPr/>
          <p:nvPr/>
        </p:nvSpPr>
        <p:spPr>
          <a:xfrm>
            <a:off x="635794" y="1504150"/>
            <a:ext cx="3993356" cy="160734"/>
          </a:xfrm>
          <a:prstGeom prst="rect">
            <a:avLst/>
          </a:prstGeom>
          <a:noFill/>
          <a:ln/>
        </p:spPr>
        <p:txBody>
          <a:bodyPr wrap="square" lIns="0" tIns="0" rIns="0" bIns="0" rtlCol="0" anchor="t">
            <a:spAutoFit/>
          </a:bodyPr>
          <a:lstStyle/>
          <a:p>
            <a:pPr algn="l" indent="0" marL="0">
              <a:buNone/>
            </a:pPr>
            <a:r>
              <a:rPr lang="en-US" sz="1000" b="1" u="sng" dirty="0">
                <a:solidFill>
                  <a:srgbClr val="002244"/>
                </a:solidFill>
                <a:uFill>
                  <a:solidFill>
                    <a:srgbClr val="002244"/>
                  </a:solidFill>
                </a:uFill>
                <a:latin typeface="Courier New" pitchFamily="34" charset="0"/>
                <a:ea typeface="Courier New" pitchFamily="34" charset="-122"/>
                <a:cs typeface="Courier New" pitchFamily="34" charset="-120"/>
              </a:rPr>
              <a:t>SOURCE &amp; VOLUME</a:t>
            </a:r>
            <a:endParaRPr lang="en-US" sz="1000" dirty="0"/>
          </a:p>
        </p:txBody>
      </p:sp>
      <p:sp>
        <p:nvSpPr>
          <p:cNvPr id="7" name="Text 3"/>
          <p:cNvSpPr/>
          <p:nvPr/>
        </p:nvSpPr>
        <p:spPr>
          <a:xfrm>
            <a:off x="764381" y="1786328"/>
            <a:ext cx="507429" cy="146447"/>
          </a:xfrm>
          <a:prstGeom prst="rect">
            <a:avLst/>
          </a:prstGeom>
          <a:noFill/>
          <a:ln/>
        </p:spPr>
        <p:txBody>
          <a:bodyPr wrap="none" lIns="0" tIns="0" rIns="0" bIns="0" rtlCol="0" anchor="t">
            <a:spAutoFit/>
          </a:bodyPr>
          <a:lstStyle/>
          <a:p>
            <a:pPr algn="l" indent="0" marL="0">
              <a:lnSpc>
                <a:spcPct val="112000"/>
              </a:lnSpc>
              <a:buNone/>
            </a:pPr>
            <a:r>
              <a:rPr lang="en-US" sz="900" b="1" dirty="0">
                <a:solidFill>
                  <a:srgbClr val="333333"/>
                </a:solidFill>
                <a:latin typeface="Segoe UI" pitchFamily="34" charset="0"/>
                <a:ea typeface="Segoe UI" pitchFamily="34" charset="-122"/>
                <a:cs typeface="Segoe UI" pitchFamily="34" charset="-120"/>
              </a:rPr>
              <a:t>Dataset:</a:t>
            </a:r>
            <a:endParaRPr lang="en-US" sz="900" dirty="0"/>
          </a:p>
        </p:txBody>
      </p:sp>
      <p:sp>
        <p:nvSpPr>
          <p:cNvPr id="8" name="Text 4"/>
          <p:cNvSpPr/>
          <p:nvPr/>
        </p:nvSpPr>
        <p:spPr>
          <a:xfrm>
            <a:off x="1271811" y="1786328"/>
            <a:ext cx="1286377" cy="14644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Segoe UI" pitchFamily="34" charset="0"/>
                <a:ea typeface="Segoe UI" pitchFamily="34" charset="-122"/>
                <a:cs typeface="Segoe UI" pitchFamily="34" charset="-120"/>
              </a:rPr>
              <a:t>SMS Spam Collection</a:t>
            </a:r>
            <a:endParaRPr lang="en-US" sz="950" dirty="0"/>
          </a:p>
        </p:txBody>
      </p:sp>
      <p:sp>
        <p:nvSpPr>
          <p:cNvPr id="9" name="Text 5"/>
          <p:cNvSpPr/>
          <p:nvPr/>
        </p:nvSpPr>
        <p:spPr>
          <a:xfrm>
            <a:off x="764381" y="2037755"/>
            <a:ext cx="990916" cy="146447"/>
          </a:xfrm>
          <a:prstGeom prst="rect">
            <a:avLst/>
          </a:prstGeom>
          <a:noFill/>
          <a:ln/>
        </p:spPr>
        <p:txBody>
          <a:bodyPr wrap="none" lIns="0" tIns="0" rIns="0" bIns="0" rtlCol="0" anchor="t">
            <a:spAutoFit/>
          </a:bodyPr>
          <a:lstStyle/>
          <a:p>
            <a:pPr algn="l" indent="0" marL="0">
              <a:lnSpc>
                <a:spcPct val="112000"/>
              </a:lnSpc>
              <a:buNone/>
            </a:pPr>
            <a:r>
              <a:rPr lang="en-US" sz="900" b="1" dirty="0">
                <a:solidFill>
                  <a:srgbClr val="333333"/>
                </a:solidFill>
                <a:latin typeface="Segoe UI" pitchFamily="34" charset="0"/>
                <a:ea typeface="Segoe UI" pitchFamily="34" charset="-122"/>
                <a:cs typeface="Segoe UI" pitchFamily="34" charset="-120"/>
              </a:rPr>
              <a:t>Total Messages:</a:t>
            </a:r>
            <a:endParaRPr lang="en-US" sz="900" dirty="0"/>
          </a:p>
        </p:txBody>
      </p:sp>
      <p:sp>
        <p:nvSpPr>
          <p:cNvPr id="10" name="Text 6"/>
          <p:cNvSpPr/>
          <p:nvPr/>
        </p:nvSpPr>
        <p:spPr>
          <a:xfrm>
            <a:off x="1755298" y="2037755"/>
            <a:ext cx="357522" cy="14644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Segoe UI" pitchFamily="34" charset="0"/>
                <a:ea typeface="Segoe UI" pitchFamily="34" charset="-122"/>
                <a:cs typeface="Segoe UI" pitchFamily="34" charset="-120"/>
              </a:rPr>
              <a:t>5,574</a:t>
            </a:r>
            <a:endParaRPr lang="en-US" sz="950" dirty="0"/>
          </a:p>
        </p:txBody>
      </p:sp>
      <p:sp>
        <p:nvSpPr>
          <p:cNvPr id="11" name="Text 7"/>
          <p:cNvSpPr/>
          <p:nvPr/>
        </p:nvSpPr>
        <p:spPr>
          <a:xfrm>
            <a:off x="764381" y="2289181"/>
            <a:ext cx="1085962" cy="146447"/>
          </a:xfrm>
          <a:prstGeom prst="rect">
            <a:avLst/>
          </a:prstGeom>
          <a:noFill/>
          <a:ln/>
        </p:spPr>
        <p:txBody>
          <a:bodyPr wrap="none" lIns="0" tIns="0" rIns="0" bIns="0" rtlCol="0" anchor="t">
            <a:spAutoFit/>
          </a:bodyPr>
          <a:lstStyle/>
          <a:p>
            <a:pPr algn="l" indent="0" marL="0">
              <a:lnSpc>
                <a:spcPct val="112000"/>
              </a:lnSpc>
              <a:buNone/>
            </a:pPr>
            <a:r>
              <a:rPr lang="en-US" sz="900" b="1" dirty="0">
                <a:solidFill>
                  <a:srgbClr val="333333"/>
                </a:solidFill>
                <a:latin typeface="Segoe UI" pitchFamily="34" charset="0"/>
                <a:ea typeface="Segoe UI" pitchFamily="34" charset="-122"/>
                <a:cs typeface="Segoe UI" pitchFamily="34" charset="-120"/>
              </a:rPr>
              <a:t>Legitimate (Ham):</a:t>
            </a:r>
            <a:endParaRPr lang="en-US" sz="900" dirty="0"/>
          </a:p>
        </p:txBody>
      </p:sp>
      <p:sp>
        <p:nvSpPr>
          <p:cNvPr id="12" name="Text 8"/>
          <p:cNvSpPr/>
          <p:nvPr/>
        </p:nvSpPr>
        <p:spPr>
          <a:xfrm>
            <a:off x="1850343" y="2289181"/>
            <a:ext cx="357522" cy="14644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Segoe UI" pitchFamily="34" charset="0"/>
                <a:ea typeface="Segoe UI" pitchFamily="34" charset="-122"/>
                <a:cs typeface="Segoe UI" pitchFamily="34" charset="-120"/>
              </a:rPr>
              <a:t>4,827</a:t>
            </a:r>
            <a:endParaRPr lang="en-US" sz="950" dirty="0"/>
          </a:p>
        </p:txBody>
      </p:sp>
      <p:sp>
        <p:nvSpPr>
          <p:cNvPr id="13" name="Text 9"/>
          <p:cNvSpPr/>
          <p:nvPr/>
        </p:nvSpPr>
        <p:spPr>
          <a:xfrm>
            <a:off x="764381" y="2540608"/>
            <a:ext cx="393018" cy="146447"/>
          </a:xfrm>
          <a:prstGeom prst="rect">
            <a:avLst/>
          </a:prstGeom>
          <a:noFill/>
          <a:ln/>
        </p:spPr>
        <p:txBody>
          <a:bodyPr wrap="none" lIns="0" tIns="0" rIns="0" bIns="0" rtlCol="0" anchor="t">
            <a:spAutoFit/>
          </a:bodyPr>
          <a:lstStyle/>
          <a:p>
            <a:pPr algn="l" indent="0" marL="0">
              <a:lnSpc>
                <a:spcPct val="112000"/>
              </a:lnSpc>
              <a:buNone/>
            </a:pPr>
            <a:r>
              <a:rPr lang="en-US" sz="900" b="1" dirty="0">
                <a:solidFill>
                  <a:srgbClr val="333333"/>
                </a:solidFill>
                <a:latin typeface="Segoe UI" pitchFamily="34" charset="0"/>
                <a:ea typeface="Segoe UI" pitchFamily="34" charset="-122"/>
                <a:cs typeface="Segoe UI" pitchFamily="34" charset="-120"/>
              </a:rPr>
              <a:t>Spam:</a:t>
            </a:r>
            <a:endParaRPr lang="en-US" sz="900" dirty="0"/>
          </a:p>
        </p:txBody>
      </p:sp>
      <p:sp>
        <p:nvSpPr>
          <p:cNvPr id="14" name="Text 10"/>
          <p:cNvSpPr/>
          <p:nvPr/>
        </p:nvSpPr>
        <p:spPr>
          <a:xfrm>
            <a:off x="1157399" y="2540608"/>
            <a:ext cx="250310" cy="14644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Segoe UI" pitchFamily="34" charset="0"/>
                <a:ea typeface="Segoe UI" pitchFamily="34" charset="-122"/>
                <a:cs typeface="Segoe UI" pitchFamily="34" charset="-120"/>
              </a:rPr>
              <a:t>747</a:t>
            </a:r>
            <a:endParaRPr lang="en-US" sz="950" dirty="0"/>
          </a:p>
        </p:txBody>
      </p:sp>
      <p:sp>
        <p:nvSpPr>
          <p:cNvPr id="15" name="Text 11"/>
          <p:cNvSpPr/>
          <p:nvPr/>
        </p:nvSpPr>
        <p:spPr>
          <a:xfrm>
            <a:off x="635794" y="2920622"/>
            <a:ext cx="3993356" cy="160734"/>
          </a:xfrm>
          <a:prstGeom prst="rect">
            <a:avLst/>
          </a:prstGeom>
          <a:noFill/>
          <a:ln/>
        </p:spPr>
        <p:txBody>
          <a:bodyPr wrap="square" lIns="0" tIns="0" rIns="0" bIns="0" rtlCol="0" anchor="t">
            <a:spAutoFit/>
          </a:bodyPr>
          <a:lstStyle/>
          <a:p>
            <a:pPr algn="l" indent="0" marL="0">
              <a:buNone/>
            </a:pPr>
            <a:r>
              <a:rPr lang="en-US" sz="1000" b="1" u="sng" dirty="0">
                <a:solidFill>
                  <a:srgbClr val="002244"/>
                </a:solidFill>
                <a:uFill>
                  <a:solidFill>
                    <a:srgbClr val="002244"/>
                  </a:solidFill>
                </a:uFill>
                <a:latin typeface="Courier New" pitchFamily="34" charset="0"/>
                <a:ea typeface="Courier New" pitchFamily="34" charset="-122"/>
                <a:cs typeface="Courier New" pitchFamily="34" charset="-120"/>
              </a:rPr>
              <a:t>DATA CLEANING</a:t>
            </a:r>
            <a:endParaRPr lang="en-US" sz="1000" dirty="0"/>
          </a:p>
        </p:txBody>
      </p:sp>
      <p:sp>
        <p:nvSpPr>
          <p:cNvPr id="16" name="Text 12"/>
          <p:cNvSpPr/>
          <p:nvPr/>
        </p:nvSpPr>
        <p:spPr>
          <a:xfrm>
            <a:off x="764381" y="3202800"/>
            <a:ext cx="1591661" cy="14644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Segoe UI" pitchFamily="34" charset="0"/>
                <a:ea typeface="Segoe UI" pitchFamily="34" charset="-122"/>
                <a:cs typeface="Segoe UI" pitchFamily="34" charset="-120"/>
              </a:rPr>
              <a:t>Lowercasing &amp; Tokenization</a:t>
            </a:r>
            <a:endParaRPr lang="en-US" sz="950" dirty="0"/>
          </a:p>
        </p:txBody>
      </p:sp>
      <p:sp>
        <p:nvSpPr>
          <p:cNvPr id="17" name="Text 13"/>
          <p:cNvSpPr/>
          <p:nvPr/>
        </p:nvSpPr>
        <p:spPr>
          <a:xfrm>
            <a:off x="764381" y="3454226"/>
            <a:ext cx="1984679" cy="14644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Segoe UI" pitchFamily="34" charset="0"/>
                <a:ea typeface="Segoe UI" pitchFamily="34" charset="-122"/>
                <a:cs typeface="Segoe UI" pitchFamily="34" charset="-120"/>
              </a:rPr>
              <a:t>Punctuation &amp; Stop Word Removal</a:t>
            </a:r>
            <a:endParaRPr lang="en-US" sz="950" dirty="0"/>
          </a:p>
        </p:txBody>
      </p:sp>
      <p:sp>
        <p:nvSpPr>
          <p:cNvPr id="18" name="Text 14"/>
          <p:cNvSpPr/>
          <p:nvPr/>
        </p:nvSpPr>
        <p:spPr>
          <a:xfrm>
            <a:off x="764381" y="3705653"/>
            <a:ext cx="1972345" cy="14644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Segoe UI" pitchFamily="34" charset="0"/>
                <a:ea typeface="Segoe UI" pitchFamily="34" charset="-122"/>
                <a:cs typeface="Segoe UI" pitchFamily="34" charset="-120"/>
              </a:rPr>
              <a:t>Porter Stemming for Normalization</a:t>
            </a:r>
            <a:endParaRPr lang="en-US" sz="950" dirty="0"/>
          </a:p>
        </p:txBody>
      </p:sp>
      <p:sp>
        <p:nvSpPr>
          <p:cNvPr id="19" name="Shape 15"/>
          <p:cNvSpPr/>
          <p:nvPr/>
        </p:nvSpPr>
        <p:spPr>
          <a:xfrm>
            <a:off x="4629150" y="492919"/>
            <a:ext cx="3993356" cy="1889522"/>
          </a:xfrm>
          <a:prstGeom prst="rect">
            <a:avLst/>
          </a:prstGeom>
          <a:solidFill>
            <a:srgbClr val="FFFFFF"/>
          </a:solidFill>
          <a:ln w="18288">
            <a:solidFill>
              <a:srgbClr val="002244"/>
            </a:solidFill>
            <a:prstDash val="solid"/>
          </a:ln>
        </p:spPr>
      </p:sp>
      <p:sp>
        <p:nvSpPr>
          <p:cNvPr id="20" name="Text 16"/>
          <p:cNvSpPr/>
          <p:nvPr/>
        </p:nvSpPr>
        <p:spPr>
          <a:xfrm>
            <a:off x="4736306" y="600075"/>
            <a:ext cx="3779044" cy="110728"/>
          </a:xfrm>
          <a:prstGeom prst="rect">
            <a:avLst/>
          </a:prstGeom>
          <a:noFill/>
          <a:ln/>
        </p:spPr>
        <p:txBody>
          <a:bodyPr wrap="square" lIns="0" tIns="0" rIns="0" bIns="0" rtlCol="0" anchor="t">
            <a:spAutoFit/>
          </a:bodyPr>
          <a:lstStyle/>
          <a:p>
            <a:pPr algn="ctr" indent="0" marL="0">
              <a:buNone/>
            </a:pPr>
            <a:r>
              <a:rPr lang="en-US" sz="700" b="1" dirty="0">
                <a:solidFill>
                  <a:srgbClr val="002244"/>
                </a:solidFill>
                <a:latin typeface="Courier New" pitchFamily="34" charset="0"/>
                <a:ea typeface="Courier New" pitchFamily="34" charset="-122"/>
                <a:cs typeface="Courier New" pitchFamily="34" charset="-120"/>
              </a:rPr>
              <a:t>CLASS DISTRIBUTION (%)</a:t>
            </a:r>
            <a:endParaRPr lang="en-US" sz="700" dirty="0"/>
          </a:p>
        </p:txBody>
      </p:sp>
      <p:pic>
        <p:nvPicPr>
          <p:cNvPr id="21" name="Image 1" descr="preencoded.png">    </p:cNvPr>
          <p:cNvPicPr>
            <a:picLocks noChangeAspect="1"/>
          </p:cNvPicPr>
          <p:nvPr/>
        </p:nvPicPr>
        <p:blipFill>
          <a:blip r:embed="rId2"/>
          <a:stretch>
            <a:fillRect/>
          </a:stretch>
        </p:blipFill>
        <p:spPr>
          <a:xfrm>
            <a:off x="4736306" y="782241"/>
            <a:ext cx="3750469" cy="1571625"/>
          </a:xfrm>
          <a:prstGeom prst="rect">
            <a:avLst/>
          </a:prstGeom>
        </p:spPr>
      </p:pic>
      <p:sp>
        <p:nvSpPr>
          <p:cNvPr id="22" name="Shape 17"/>
          <p:cNvSpPr/>
          <p:nvPr/>
        </p:nvSpPr>
        <p:spPr>
          <a:xfrm>
            <a:off x="4629150" y="2568178"/>
            <a:ext cx="3993356" cy="1889522"/>
          </a:xfrm>
          <a:prstGeom prst="rect">
            <a:avLst/>
          </a:prstGeom>
          <a:solidFill>
            <a:srgbClr val="FFFFFF"/>
          </a:solidFill>
          <a:ln w="18288">
            <a:solidFill>
              <a:srgbClr val="002244"/>
            </a:solidFill>
            <a:prstDash val="solid"/>
          </a:ln>
        </p:spPr>
      </p:sp>
      <p:sp>
        <p:nvSpPr>
          <p:cNvPr id="23" name="Text 18"/>
          <p:cNvSpPr/>
          <p:nvPr/>
        </p:nvSpPr>
        <p:spPr>
          <a:xfrm>
            <a:off x="4736306" y="2675334"/>
            <a:ext cx="3779044" cy="110728"/>
          </a:xfrm>
          <a:prstGeom prst="rect">
            <a:avLst/>
          </a:prstGeom>
          <a:noFill/>
          <a:ln/>
        </p:spPr>
        <p:txBody>
          <a:bodyPr wrap="square" lIns="0" tIns="0" rIns="0" bIns="0" rtlCol="0" anchor="t">
            <a:spAutoFit/>
          </a:bodyPr>
          <a:lstStyle/>
          <a:p>
            <a:pPr algn="ctr" indent="0" marL="0">
              <a:buNone/>
            </a:pPr>
            <a:r>
              <a:rPr lang="en-US" sz="700" b="1" dirty="0">
                <a:solidFill>
                  <a:srgbClr val="002244"/>
                </a:solidFill>
                <a:latin typeface="Courier New" pitchFamily="34" charset="0"/>
                <a:ea typeface="Courier New" pitchFamily="34" charset="-122"/>
                <a:cs typeface="Courier New" pitchFamily="34" charset="-120"/>
              </a:rPr>
              <a:t>MESSAGE COUNT COMPARISON</a:t>
            </a:r>
            <a:endParaRPr lang="en-US" sz="700" dirty="0"/>
          </a:p>
        </p:txBody>
      </p:sp>
      <p:pic>
        <p:nvPicPr>
          <p:cNvPr id="24" name="Image 2" descr="preencoded.png">    </p:cNvPr>
          <p:cNvPicPr>
            <a:picLocks noChangeAspect="1"/>
          </p:cNvPicPr>
          <p:nvPr/>
        </p:nvPicPr>
        <p:blipFill>
          <a:blip r:embed="rId3"/>
          <a:stretch>
            <a:fillRect/>
          </a:stretch>
        </p:blipFill>
        <p:spPr>
          <a:xfrm>
            <a:off x="4736306" y="2857500"/>
            <a:ext cx="3750469" cy="15716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8644" y="649188"/>
            <a:ext cx="7986713" cy="292894"/>
          </a:xfrm>
          <a:prstGeom prst="rect">
            <a:avLst/>
          </a:prstGeom>
          <a:noFill/>
          <a:ln/>
        </p:spPr>
        <p:txBody>
          <a:bodyPr wrap="square" lIns="0" tIns="0" rIns="0" bIns="0" rtlCol="0" anchor="t">
            <a:spAutoFit/>
          </a:bodyPr>
          <a:lstStyle/>
          <a:p>
            <a:pPr algn="l" indent="0" marL="0">
              <a:buNone/>
            </a:pPr>
            <a:r>
              <a:rPr lang="en-US" sz="1800" b="1" spc="2" kern="0" dirty="0">
                <a:solidFill>
                  <a:srgbClr val="002244"/>
                </a:solidFill>
                <a:latin typeface="Courier New" pitchFamily="34" charset="0"/>
                <a:ea typeface="Courier New" pitchFamily="34" charset="-122"/>
                <a:cs typeface="Courier New" pitchFamily="34" charset="-120"/>
              </a:rPr>
              <a:t>PROJECT EVOLUTION</a:t>
            </a:r>
            <a:endParaRPr lang="en-US" sz="1800" dirty="0"/>
          </a:p>
        </p:txBody>
      </p:sp>
      <p:sp>
        <p:nvSpPr>
          <p:cNvPr id="5" name="Text 1"/>
          <p:cNvSpPr/>
          <p:nvPr/>
        </p:nvSpPr>
        <p:spPr>
          <a:xfrm>
            <a:off x="578644" y="1084957"/>
            <a:ext cx="7986713" cy="160734"/>
          </a:xfrm>
          <a:prstGeom prst="rect">
            <a:avLst/>
          </a:prstGeom>
          <a:noFill/>
          <a:ln/>
        </p:spPr>
        <p:txBody>
          <a:bodyPr wrap="square" lIns="0" tIns="0" rIns="0" bIns="0" rtlCol="0" anchor="t">
            <a:spAutoFit/>
          </a:bodyPr>
          <a:lstStyle/>
          <a:p>
            <a:pPr algn="l" indent="0" marL="0">
              <a:buNone/>
            </a:pPr>
            <a:r>
              <a:rPr lang="en-US" sz="1050" dirty="0">
                <a:solidFill>
                  <a:srgbClr val="666666"/>
                </a:solidFill>
                <a:latin typeface="Segoe UI" pitchFamily="34" charset="0"/>
                <a:ea typeface="Segoe UI" pitchFamily="34" charset="-122"/>
                <a:cs typeface="Segoe UI" pitchFamily="34" charset="-120"/>
              </a:rPr>
              <a:t>A 4-Week Sprint from Concept to Deployment</a:t>
            </a:r>
            <a:endParaRPr lang="en-US" sz="1050" dirty="0"/>
          </a:p>
        </p:txBody>
      </p:sp>
      <p:sp>
        <p:nvSpPr>
          <p:cNvPr id="6" name="Shape 2"/>
          <p:cNvSpPr/>
          <p:nvPr/>
        </p:nvSpPr>
        <p:spPr>
          <a:xfrm>
            <a:off x="578644" y="1388566"/>
            <a:ext cx="1614488" cy="1468041"/>
          </a:xfrm>
          <a:prstGeom prst="rect">
            <a:avLst/>
          </a:prstGeom>
          <a:solidFill>
            <a:srgbClr val="FFFFFF"/>
          </a:solidFill>
          <a:ln w="18288">
            <a:solidFill>
              <a:srgbClr val="002244"/>
            </a:solidFill>
            <a:prstDash val="solid"/>
          </a:ln>
        </p:spPr>
      </p:sp>
      <p:sp>
        <p:nvSpPr>
          <p:cNvPr id="7" name="Shape 3"/>
          <p:cNvSpPr/>
          <p:nvPr/>
        </p:nvSpPr>
        <p:spPr>
          <a:xfrm>
            <a:off x="578644" y="1388566"/>
            <a:ext cx="1571625" cy="314325"/>
          </a:xfrm>
          <a:prstGeom prst="rect">
            <a:avLst/>
          </a:prstGeom>
          <a:solidFill>
            <a:srgbClr val="002244"/>
          </a:solidFill>
          <a:ln/>
        </p:spPr>
      </p:sp>
      <p:sp>
        <p:nvSpPr>
          <p:cNvPr id="8" name="Text 4"/>
          <p:cNvSpPr/>
          <p:nvPr/>
        </p:nvSpPr>
        <p:spPr>
          <a:xfrm>
            <a:off x="578644" y="1388566"/>
            <a:ext cx="1571625" cy="314325"/>
          </a:xfrm>
          <a:prstGeom prst="rect">
            <a:avLst/>
          </a:prstGeom>
          <a:noFill/>
          <a:ln/>
        </p:spPr>
        <p:txBody>
          <a:bodyPr wrap="square" lIns="102108" tIns="68072" rIns="0" bIns="0" rtlCol="0" anchor="t">
            <a:spAutoFit/>
          </a:bodyPr>
          <a:lstStyle/>
          <a:p>
            <a:pPr algn="l" indent="0" marL="0">
              <a:buNone/>
            </a:pPr>
            <a:r>
              <a:rPr lang="en-US" sz="900" b="1" dirty="0">
                <a:solidFill>
                  <a:srgbClr val="FFD700"/>
                </a:solidFill>
                <a:latin typeface="Courier New" pitchFamily="34" charset="0"/>
                <a:ea typeface="Courier New" pitchFamily="34" charset="-122"/>
                <a:cs typeface="Courier New" pitchFamily="34" charset="-120"/>
              </a:rPr>
              <a:t>WEEK 01</a:t>
            </a:r>
            <a:endParaRPr lang="en-US" sz="900" dirty="0"/>
          </a:p>
        </p:txBody>
      </p:sp>
      <p:sp>
        <p:nvSpPr>
          <p:cNvPr id="9" name="Text 5"/>
          <p:cNvSpPr/>
          <p:nvPr/>
        </p:nvSpPr>
        <p:spPr>
          <a:xfrm>
            <a:off x="664369" y="2027932"/>
            <a:ext cx="1400175" cy="150019"/>
          </a:xfrm>
          <a:prstGeom prst="rect">
            <a:avLst/>
          </a:prstGeom>
          <a:noFill/>
          <a:ln/>
        </p:spPr>
        <p:txBody>
          <a:bodyPr wrap="square" lIns="0" tIns="0" rIns="0" bIns="0" rtlCol="0" anchor="t">
            <a:spAutoFit/>
          </a:bodyPr>
          <a:lstStyle/>
          <a:p>
            <a:pPr algn="l" indent="0" marL="0">
              <a:buNone/>
            </a:pPr>
            <a:r>
              <a:rPr lang="en-US" sz="900" b="1" dirty="0">
                <a:solidFill>
                  <a:srgbClr val="002244"/>
                </a:solidFill>
                <a:latin typeface="Segoe UI" pitchFamily="34" charset="0"/>
                <a:ea typeface="Segoe UI" pitchFamily="34" charset="-122"/>
                <a:cs typeface="Segoe UI" pitchFamily="34" charset="-120"/>
              </a:rPr>
              <a:t>FOUNDATION</a:t>
            </a:r>
            <a:endParaRPr lang="en-US" sz="900" dirty="0"/>
          </a:p>
        </p:txBody>
      </p:sp>
      <p:sp>
        <p:nvSpPr>
          <p:cNvPr id="10" name="Text 6"/>
          <p:cNvSpPr/>
          <p:nvPr/>
        </p:nvSpPr>
        <p:spPr>
          <a:xfrm>
            <a:off x="792956" y="2249388"/>
            <a:ext cx="792231"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333333"/>
                </a:solidFill>
                <a:latin typeface="Segoe UI" pitchFamily="34" charset="0"/>
                <a:ea typeface="Segoe UI" pitchFamily="34" charset="-122"/>
                <a:cs typeface="Segoe UI" pitchFamily="34" charset="-120"/>
              </a:rPr>
              <a:t>Data Exploration</a:t>
            </a:r>
            <a:endParaRPr lang="en-US" sz="800" dirty="0"/>
          </a:p>
        </p:txBody>
      </p:sp>
      <p:sp>
        <p:nvSpPr>
          <p:cNvPr id="11" name="Text 7"/>
          <p:cNvSpPr/>
          <p:nvPr/>
        </p:nvSpPr>
        <p:spPr>
          <a:xfrm>
            <a:off x="792956" y="2442270"/>
            <a:ext cx="649300"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333333"/>
                </a:solidFill>
                <a:latin typeface="Segoe UI" pitchFamily="34" charset="0"/>
                <a:ea typeface="Segoe UI" pitchFamily="34" charset="-122"/>
                <a:cs typeface="Segoe UI" pitchFamily="34" charset="-120"/>
              </a:rPr>
              <a:t>Text Cleaning</a:t>
            </a:r>
            <a:endParaRPr lang="en-US" sz="800" dirty="0"/>
          </a:p>
        </p:txBody>
      </p:sp>
      <p:sp>
        <p:nvSpPr>
          <p:cNvPr id="12" name="Text 8"/>
          <p:cNvSpPr/>
          <p:nvPr/>
        </p:nvSpPr>
        <p:spPr>
          <a:xfrm>
            <a:off x="792956" y="2635151"/>
            <a:ext cx="684963"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333333"/>
                </a:solidFill>
                <a:latin typeface="Segoe UI" pitchFamily="34" charset="0"/>
                <a:ea typeface="Segoe UI" pitchFamily="34" charset="-122"/>
                <a:cs typeface="Segoe UI" pitchFamily="34" charset="-120"/>
              </a:rPr>
              <a:t>Preprocessing</a:t>
            </a:r>
            <a:endParaRPr lang="en-US" sz="800" dirty="0"/>
          </a:p>
        </p:txBody>
      </p:sp>
      <p:sp>
        <p:nvSpPr>
          <p:cNvPr id="13" name="Shape 9"/>
          <p:cNvSpPr/>
          <p:nvPr/>
        </p:nvSpPr>
        <p:spPr>
          <a:xfrm>
            <a:off x="2674107" y="1388566"/>
            <a:ext cx="1614488" cy="1468041"/>
          </a:xfrm>
          <a:prstGeom prst="rect">
            <a:avLst/>
          </a:prstGeom>
          <a:solidFill>
            <a:srgbClr val="FFFFFF"/>
          </a:solidFill>
          <a:ln w="18288">
            <a:solidFill>
              <a:srgbClr val="002244"/>
            </a:solidFill>
            <a:prstDash val="solid"/>
          </a:ln>
        </p:spPr>
      </p:sp>
      <p:sp>
        <p:nvSpPr>
          <p:cNvPr id="14" name="Shape 10"/>
          <p:cNvSpPr/>
          <p:nvPr/>
        </p:nvSpPr>
        <p:spPr>
          <a:xfrm>
            <a:off x="2688394" y="1388566"/>
            <a:ext cx="1571625" cy="314325"/>
          </a:xfrm>
          <a:prstGeom prst="rect">
            <a:avLst/>
          </a:prstGeom>
          <a:solidFill>
            <a:srgbClr val="002244"/>
          </a:solidFill>
          <a:ln/>
        </p:spPr>
      </p:sp>
      <p:sp>
        <p:nvSpPr>
          <p:cNvPr id="15" name="Text 11"/>
          <p:cNvSpPr/>
          <p:nvPr/>
        </p:nvSpPr>
        <p:spPr>
          <a:xfrm>
            <a:off x="2688394" y="1388566"/>
            <a:ext cx="1571625" cy="314325"/>
          </a:xfrm>
          <a:prstGeom prst="rect">
            <a:avLst/>
          </a:prstGeom>
          <a:noFill/>
          <a:ln/>
        </p:spPr>
        <p:txBody>
          <a:bodyPr wrap="square" lIns="102108" tIns="68072" rIns="0" bIns="0" rtlCol="0" anchor="t">
            <a:spAutoFit/>
          </a:bodyPr>
          <a:lstStyle/>
          <a:p>
            <a:pPr algn="l" indent="0" marL="0">
              <a:buNone/>
            </a:pPr>
            <a:r>
              <a:rPr lang="en-US" sz="900" b="1" dirty="0">
                <a:solidFill>
                  <a:srgbClr val="FFD700"/>
                </a:solidFill>
                <a:latin typeface="Courier New" pitchFamily="34" charset="0"/>
                <a:ea typeface="Courier New" pitchFamily="34" charset="-122"/>
                <a:cs typeface="Courier New" pitchFamily="34" charset="-120"/>
              </a:rPr>
              <a:t>WEEK 02</a:t>
            </a:r>
            <a:endParaRPr lang="en-US" sz="900" dirty="0"/>
          </a:p>
        </p:txBody>
      </p:sp>
      <p:pic>
        <p:nvPicPr>
          <p:cNvPr id="16" name="Image 1" descr="preencoded.png">    </p:cNvPr>
          <p:cNvPicPr>
            <a:picLocks noChangeAspect="1"/>
          </p:cNvPicPr>
          <p:nvPr/>
        </p:nvPicPr>
        <p:blipFill>
          <a:blip r:embed="rId2"/>
          <a:stretch>
            <a:fillRect/>
          </a:stretch>
        </p:blipFill>
        <p:spPr>
          <a:xfrm>
            <a:off x="2774119" y="1792188"/>
            <a:ext cx="150019" cy="171450"/>
          </a:xfrm>
          <a:prstGeom prst="rect">
            <a:avLst/>
          </a:prstGeom>
        </p:spPr>
      </p:pic>
      <p:sp>
        <p:nvSpPr>
          <p:cNvPr id="17" name="Text 12"/>
          <p:cNvSpPr/>
          <p:nvPr/>
        </p:nvSpPr>
        <p:spPr>
          <a:xfrm>
            <a:off x="2774119" y="2027932"/>
            <a:ext cx="1400175" cy="150019"/>
          </a:xfrm>
          <a:prstGeom prst="rect">
            <a:avLst/>
          </a:prstGeom>
          <a:noFill/>
          <a:ln/>
        </p:spPr>
        <p:txBody>
          <a:bodyPr wrap="square" lIns="0" tIns="0" rIns="0" bIns="0" rtlCol="0" anchor="t">
            <a:spAutoFit/>
          </a:bodyPr>
          <a:lstStyle/>
          <a:p>
            <a:pPr algn="l" indent="0" marL="0">
              <a:buNone/>
            </a:pPr>
            <a:r>
              <a:rPr lang="en-US" sz="900" b="1" dirty="0">
                <a:solidFill>
                  <a:srgbClr val="002244"/>
                </a:solidFill>
                <a:latin typeface="Segoe UI" pitchFamily="34" charset="0"/>
                <a:ea typeface="Segoe UI" pitchFamily="34" charset="-122"/>
                <a:cs typeface="Segoe UI" pitchFamily="34" charset="-120"/>
              </a:rPr>
              <a:t>BASELINE</a:t>
            </a:r>
            <a:endParaRPr lang="en-US" sz="900" dirty="0"/>
          </a:p>
        </p:txBody>
      </p:sp>
      <p:sp>
        <p:nvSpPr>
          <p:cNvPr id="18" name="Text 13"/>
          <p:cNvSpPr/>
          <p:nvPr/>
        </p:nvSpPr>
        <p:spPr>
          <a:xfrm>
            <a:off x="2902707" y="2249388"/>
            <a:ext cx="923218"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333333"/>
                </a:solidFill>
                <a:latin typeface="Segoe UI" pitchFamily="34" charset="0"/>
                <a:ea typeface="Segoe UI" pitchFamily="34" charset="-122"/>
                <a:cs typeface="Segoe UI" pitchFamily="34" charset="-120"/>
              </a:rPr>
              <a:t>Naive Bayes Model</a:t>
            </a:r>
            <a:endParaRPr lang="en-US" sz="800" dirty="0"/>
          </a:p>
        </p:txBody>
      </p:sp>
      <p:sp>
        <p:nvSpPr>
          <p:cNvPr id="19" name="Text 14"/>
          <p:cNvSpPr/>
          <p:nvPr/>
        </p:nvSpPr>
        <p:spPr>
          <a:xfrm>
            <a:off x="2902707" y="2442270"/>
            <a:ext cx="964909"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333333"/>
                </a:solidFill>
                <a:latin typeface="Segoe UI" pitchFamily="34" charset="0"/>
                <a:ea typeface="Segoe UI" pitchFamily="34" charset="-122"/>
                <a:cs typeface="Segoe UI" pitchFamily="34" charset="-120"/>
              </a:rPr>
              <a:t>Initial Benchmarking</a:t>
            </a:r>
            <a:endParaRPr lang="en-US" sz="800" dirty="0"/>
          </a:p>
        </p:txBody>
      </p:sp>
      <p:sp>
        <p:nvSpPr>
          <p:cNvPr id="20" name="Text 15"/>
          <p:cNvSpPr/>
          <p:nvPr/>
        </p:nvSpPr>
        <p:spPr>
          <a:xfrm>
            <a:off x="2902707" y="2635151"/>
            <a:ext cx="649021"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333333"/>
                </a:solidFill>
                <a:latin typeface="Segoe UI" pitchFamily="34" charset="0"/>
                <a:ea typeface="Segoe UI" pitchFamily="34" charset="-122"/>
                <a:cs typeface="Segoe UI" pitchFamily="34" charset="-120"/>
              </a:rPr>
              <a:t>TF-IDF Setup</a:t>
            </a:r>
            <a:endParaRPr lang="en-US" sz="800" dirty="0"/>
          </a:p>
        </p:txBody>
      </p:sp>
      <p:sp>
        <p:nvSpPr>
          <p:cNvPr id="21" name="Shape 16"/>
          <p:cNvSpPr/>
          <p:nvPr/>
        </p:nvSpPr>
        <p:spPr>
          <a:xfrm>
            <a:off x="4798144" y="1388566"/>
            <a:ext cx="1614488" cy="1468041"/>
          </a:xfrm>
          <a:prstGeom prst="rect">
            <a:avLst/>
          </a:prstGeom>
          <a:solidFill>
            <a:srgbClr val="FFFFFF"/>
          </a:solidFill>
          <a:ln w="18288">
            <a:solidFill>
              <a:srgbClr val="002244"/>
            </a:solidFill>
            <a:prstDash val="solid"/>
          </a:ln>
        </p:spPr>
      </p:sp>
      <p:sp>
        <p:nvSpPr>
          <p:cNvPr id="22" name="Shape 17"/>
          <p:cNvSpPr/>
          <p:nvPr/>
        </p:nvSpPr>
        <p:spPr>
          <a:xfrm>
            <a:off x="4826719" y="1388566"/>
            <a:ext cx="1571625" cy="314325"/>
          </a:xfrm>
          <a:prstGeom prst="rect">
            <a:avLst/>
          </a:prstGeom>
          <a:solidFill>
            <a:srgbClr val="002244"/>
          </a:solidFill>
          <a:ln/>
        </p:spPr>
      </p:sp>
      <p:sp>
        <p:nvSpPr>
          <p:cNvPr id="23" name="Text 18"/>
          <p:cNvSpPr/>
          <p:nvPr/>
        </p:nvSpPr>
        <p:spPr>
          <a:xfrm>
            <a:off x="4826719" y="1388566"/>
            <a:ext cx="1571625" cy="314325"/>
          </a:xfrm>
          <a:prstGeom prst="rect">
            <a:avLst/>
          </a:prstGeom>
          <a:noFill/>
          <a:ln/>
        </p:spPr>
        <p:txBody>
          <a:bodyPr wrap="square" lIns="102108" tIns="68072" rIns="0" bIns="0" rtlCol="0" anchor="t">
            <a:spAutoFit/>
          </a:bodyPr>
          <a:lstStyle/>
          <a:p>
            <a:pPr algn="l" indent="0" marL="0">
              <a:buNone/>
            </a:pPr>
            <a:r>
              <a:rPr lang="en-US" sz="900" b="1" dirty="0">
                <a:solidFill>
                  <a:srgbClr val="FFD700"/>
                </a:solidFill>
                <a:latin typeface="Courier New" pitchFamily="34" charset="0"/>
                <a:ea typeface="Courier New" pitchFamily="34" charset="-122"/>
                <a:cs typeface="Courier New" pitchFamily="34" charset="-120"/>
              </a:rPr>
              <a:t>WEEK 03</a:t>
            </a:r>
            <a:endParaRPr lang="en-US" sz="900" dirty="0"/>
          </a:p>
        </p:txBody>
      </p:sp>
      <p:pic>
        <p:nvPicPr>
          <p:cNvPr id="24" name="Image 2" descr="preencoded.png">    </p:cNvPr>
          <p:cNvPicPr>
            <a:picLocks noChangeAspect="1"/>
          </p:cNvPicPr>
          <p:nvPr/>
        </p:nvPicPr>
        <p:blipFill>
          <a:blip r:embed="rId3"/>
          <a:stretch>
            <a:fillRect/>
          </a:stretch>
        </p:blipFill>
        <p:spPr>
          <a:xfrm>
            <a:off x="4912444" y="1792188"/>
            <a:ext cx="171450" cy="171450"/>
          </a:xfrm>
          <a:prstGeom prst="rect">
            <a:avLst/>
          </a:prstGeom>
        </p:spPr>
      </p:pic>
      <p:sp>
        <p:nvSpPr>
          <p:cNvPr id="25" name="Text 19"/>
          <p:cNvSpPr/>
          <p:nvPr/>
        </p:nvSpPr>
        <p:spPr>
          <a:xfrm>
            <a:off x="4912444" y="2027932"/>
            <a:ext cx="1400175" cy="150019"/>
          </a:xfrm>
          <a:prstGeom prst="rect">
            <a:avLst/>
          </a:prstGeom>
          <a:noFill/>
          <a:ln/>
        </p:spPr>
        <p:txBody>
          <a:bodyPr wrap="square" lIns="0" tIns="0" rIns="0" bIns="0" rtlCol="0" anchor="t">
            <a:spAutoFit/>
          </a:bodyPr>
          <a:lstStyle/>
          <a:p>
            <a:pPr algn="l" indent="0" marL="0">
              <a:buNone/>
            </a:pPr>
            <a:r>
              <a:rPr lang="en-US" sz="900" b="1" dirty="0">
                <a:solidFill>
                  <a:srgbClr val="002244"/>
                </a:solidFill>
                <a:latin typeface="Segoe UI" pitchFamily="34" charset="0"/>
                <a:ea typeface="Segoe UI" pitchFamily="34" charset="-122"/>
                <a:cs typeface="Segoe UI" pitchFamily="34" charset="-120"/>
              </a:rPr>
              <a:t>OPTIMIZATION</a:t>
            </a:r>
            <a:endParaRPr lang="en-US" sz="900" dirty="0"/>
          </a:p>
        </p:txBody>
      </p:sp>
      <p:sp>
        <p:nvSpPr>
          <p:cNvPr id="26" name="Text 20"/>
          <p:cNvSpPr/>
          <p:nvPr/>
        </p:nvSpPr>
        <p:spPr>
          <a:xfrm>
            <a:off x="5041032" y="2249388"/>
            <a:ext cx="690823"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333333"/>
                </a:solidFill>
                <a:latin typeface="Segoe UI" pitchFamily="34" charset="0"/>
                <a:ea typeface="Segoe UI" pitchFamily="34" charset="-122"/>
                <a:cs typeface="Segoe UI" pitchFamily="34" charset="-120"/>
              </a:rPr>
              <a:t>GridSearchCV</a:t>
            </a:r>
            <a:endParaRPr lang="en-US" sz="800" dirty="0"/>
          </a:p>
        </p:txBody>
      </p:sp>
      <p:sp>
        <p:nvSpPr>
          <p:cNvPr id="27" name="Text 21"/>
          <p:cNvSpPr/>
          <p:nvPr/>
        </p:nvSpPr>
        <p:spPr>
          <a:xfrm>
            <a:off x="5041032" y="2442270"/>
            <a:ext cx="778222"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333333"/>
                </a:solidFill>
                <a:latin typeface="Segoe UI" pitchFamily="34" charset="0"/>
                <a:ea typeface="Segoe UI" pitchFamily="34" charset="-122"/>
                <a:cs typeface="Segoe UI" pitchFamily="34" charset="-120"/>
              </a:rPr>
              <a:t>Cross-Validation</a:t>
            </a:r>
            <a:endParaRPr lang="en-US" sz="800" dirty="0"/>
          </a:p>
        </p:txBody>
      </p:sp>
      <p:sp>
        <p:nvSpPr>
          <p:cNvPr id="28" name="Text 22"/>
          <p:cNvSpPr/>
          <p:nvPr/>
        </p:nvSpPr>
        <p:spPr>
          <a:xfrm>
            <a:off x="5041032" y="2635151"/>
            <a:ext cx="1125755"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333333"/>
                </a:solidFill>
                <a:latin typeface="Segoe UI" pitchFamily="34" charset="0"/>
                <a:ea typeface="Segoe UI" pitchFamily="34" charset="-122"/>
                <a:cs typeface="Segoe UI" pitchFamily="34" charset="-120"/>
              </a:rPr>
              <a:t>Hyperparameter Tuning</a:t>
            </a:r>
            <a:endParaRPr lang="en-US" sz="800" dirty="0"/>
          </a:p>
        </p:txBody>
      </p:sp>
      <p:sp>
        <p:nvSpPr>
          <p:cNvPr id="29" name="Shape 23"/>
          <p:cNvSpPr/>
          <p:nvPr/>
        </p:nvSpPr>
        <p:spPr>
          <a:xfrm>
            <a:off x="6950757" y="1388566"/>
            <a:ext cx="1614488" cy="1468041"/>
          </a:xfrm>
          <a:prstGeom prst="rect">
            <a:avLst/>
          </a:prstGeom>
          <a:solidFill>
            <a:srgbClr val="FFFFFF"/>
          </a:solidFill>
          <a:ln w="18288">
            <a:solidFill>
              <a:srgbClr val="002244"/>
            </a:solidFill>
            <a:prstDash val="solid"/>
          </a:ln>
        </p:spPr>
      </p:sp>
      <p:sp>
        <p:nvSpPr>
          <p:cNvPr id="30" name="Shape 24"/>
          <p:cNvSpPr/>
          <p:nvPr/>
        </p:nvSpPr>
        <p:spPr>
          <a:xfrm>
            <a:off x="6993620" y="1388566"/>
            <a:ext cx="1571625" cy="314325"/>
          </a:xfrm>
          <a:prstGeom prst="rect">
            <a:avLst/>
          </a:prstGeom>
          <a:solidFill>
            <a:srgbClr val="002244"/>
          </a:solidFill>
          <a:ln/>
        </p:spPr>
      </p:sp>
      <p:sp>
        <p:nvSpPr>
          <p:cNvPr id="31" name="Text 25"/>
          <p:cNvSpPr/>
          <p:nvPr/>
        </p:nvSpPr>
        <p:spPr>
          <a:xfrm>
            <a:off x="6993620" y="1388566"/>
            <a:ext cx="1571625" cy="314325"/>
          </a:xfrm>
          <a:prstGeom prst="rect">
            <a:avLst/>
          </a:prstGeom>
          <a:noFill/>
          <a:ln/>
        </p:spPr>
        <p:txBody>
          <a:bodyPr wrap="square" lIns="102108" tIns="68072" rIns="0" bIns="0" rtlCol="0" anchor="t">
            <a:spAutoFit/>
          </a:bodyPr>
          <a:lstStyle/>
          <a:p>
            <a:pPr algn="l" indent="0" marL="0">
              <a:buNone/>
            </a:pPr>
            <a:r>
              <a:rPr lang="en-US" sz="900" b="1" dirty="0">
                <a:solidFill>
                  <a:srgbClr val="FFD700"/>
                </a:solidFill>
                <a:latin typeface="Courier New" pitchFamily="34" charset="0"/>
                <a:ea typeface="Courier New" pitchFamily="34" charset="-122"/>
                <a:cs typeface="Courier New" pitchFamily="34" charset="-120"/>
              </a:rPr>
              <a:t>WEEK 04</a:t>
            </a:r>
            <a:endParaRPr lang="en-US" sz="900" dirty="0"/>
          </a:p>
        </p:txBody>
      </p:sp>
      <p:pic>
        <p:nvPicPr>
          <p:cNvPr id="32" name="Image 3" descr="preencoded.png">    </p:cNvPr>
          <p:cNvPicPr>
            <a:picLocks noChangeAspect="1"/>
          </p:cNvPicPr>
          <p:nvPr/>
        </p:nvPicPr>
        <p:blipFill>
          <a:blip r:embed="rId4"/>
          <a:stretch>
            <a:fillRect/>
          </a:stretch>
        </p:blipFill>
        <p:spPr>
          <a:xfrm>
            <a:off x="7079345" y="1792188"/>
            <a:ext cx="214313" cy="171450"/>
          </a:xfrm>
          <a:prstGeom prst="rect">
            <a:avLst/>
          </a:prstGeom>
        </p:spPr>
      </p:pic>
      <p:sp>
        <p:nvSpPr>
          <p:cNvPr id="33" name="Text 26"/>
          <p:cNvSpPr/>
          <p:nvPr/>
        </p:nvSpPr>
        <p:spPr>
          <a:xfrm>
            <a:off x="7079345" y="2027932"/>
            <a:ext cx="1400175" cy="150019"/>
          </a:xfrm>
          <a:prstGeom prst="rect">
            <a:avLst/>
          </a:prstGeom>
          <a:noFill/>
          <a:ln/>
        </p:spPr>
        <p:txBody>
          <a:bodyPr wrap="square" lIns="0" tIns="0" rIns="0" bIns="0" rtlCol="0" anchor="t">
            <a:spAutoFit/>
          </a:bodyPr>
          <a:lstStyle/>
          <a:p>
            <a:pPr algn="l" indent="0" marL="0">
              <a:buNone/>
            </a:pPr>
            <a:r>
              <a:rPr lang="en-US" sz="900" b="1" dirty="0">
                <a:solidFill>
                  <a:srgbClr val="002244"/>
                </a:solidFill>
                <a:latin typeface="Segoe UI" pitchFamily="34" charset="0"/>
                <a:ea typeface="Segoe UI" pitchFamily="34" charset="-122"/>
                <a:cs typeface="Segoe UI" pitchFamily="34" charset="-120"/>
              </a:rPr>
              <a:t>DEPLOYMENT</a:t>
            </a:r>
            <a:endParaRPr lang="en-US" sz="900" dirty="0"/>
          </a:p>
        </p:txBody>
      </p:sp>
      <p:sp>
        <p:nvSpPr>
          <p:cNvPr id="34" name="Text 27"/>
          <p:cNvSpPr/>
          <p:nvPr/>
        </p:nvSpPr>
        <p:spPr>
          <a:xfrm>
            <a:off x="7207932" y="2249388"/>
            <a:ext cx="885490"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333333"/>
                </a:solidFill>
                <a:latin typeface="Segoe UI" pitchFamily="34" charset="0"/>
                <a:ea typeface="Segoe UI" pitchFamily="34" charset="-122"/>
                <a:cs typeface="Segoe UI" pitchFamily="34" charset="-120"/>
              </a:rPr>
              <a:t>Streamlit Web App</a:t>
            </a:r>
            <a:endParaRPr lang="en-US" sz="800" dirty="0"/>
          </a:p>
        </p:txBody>
      </p:sp>
      <p:sp>
        <p:nvSpPr>
          <p:cNvPr id="35" name="Text 28"/>
          <p:cNvSpPr/>
          <p:nvPr/>
        </p:nvSpPr>
        <p:spPr>
          <a:xfrm>
            <a:off x="7207932" y="2442270"/>
            <a:ext cx="905359"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333333"/>
                </a:solidFill>
                <a:latin typeface="Segoe UI" pitchFamily="34" charset="0"/>
                <a:ea typeface="Segoe UI" pitchFamily="34" charset="-122"/>
                <a:cs typeface="Segoe UI" pitchFamily="34" charset="-120"/>
              </a:rPr>
              <a:t>Model Serialization</a:t>
            </a:r>
            <a:endParaRPr lang="en-US" sz="800" dirty="0"/>
          </a:p>
        </p:txBody>
      </p:sp>
      <p:sp>
        <p:nvSpPr>
          <p:cNvPr id="36" name="Text 29"/>
          <p:cNvSpPr/>
          <p:nvPr/>
        </p:nvSpPr>
        <p:spPr>
          <a:xfrm>
            <a:off x="7207932" y="2635151"/>
            <a:ext cx="756456"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333333"/>
                </a:solidFill>
                <a:latin typeface="Segoe UI" pitchFamily="34" charset="0"/>
                <a:ea typeface="Segoe UI" pitchFamily="34" charset="-122"/>
                <a:cs typeface="Segoe UI" pitchFamily="34" charset="-120"/>
              </a:rPr>
              <a:t>Final Showcase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8644" y="649188"/>
            <a:ext cx="7986713" cy="292894"/>
          </a:xfrm>
          <a:prstGeom prst="rect">
            <a:avLst/>
          </a:prstGeom>
          <a:noFill/>
          <a:ln/>
        </p:spPr>
        <p:txBody>
          <a:bodyPr wrap="square" lIns="0" tIns="0" rIns="0" bIns="0" rtlCol="0" anchor="t">
            <a:spAutoFit/>
          </a:bodyPr>
          <a:lstStyle/>
          <a:p>
            <a:pPr algn="l" indent="0" marL="0">
              <a:buNone/>
            </a:pPr>
            <a:r>
              <a:rPr lang="en-US" sz="1800" b="1" spc="2" kern="0" dirty="0">
                <a:solidFill>
                  <a:srgbClr val="002244"/>
                </a:solidFill>
                <a:latin typeface="Courier New" pitchFamily="34" charset="0"/>
                <a:ea typeface="Courier New" pitchFamily="34" charset="-122"/>
                <a:cs typeface="Courier New" pitchFamily="34" charset="-120"/>
              </a:rPr>
              <a:t>THE MACHINE LEARNING PIPELINE</a:t>
            </a:r>
            <a:endParaRPr lang="en-US" sz="1800" dirty="0"/>
          </a:p>
        </p:txBody>
      </p:sp>
      <p:sp>
        <p:nvSpPr>
          <p:cNvPr id="5" name="Text 1"/>
          <p:cNvSpPr/>
          <p:nvPr/>
        </p:nvSpPr>
        <p:spPr>
          <a:xfrm>
            <a:off x="578644" y="1084957"/>
            <a:ext cx="7986713" cy="160734"/>
          </a:xfrm>
          <a:prstGeom prst="rect">
            <a:avLst/>
          </a:prstGeom>
          <a:noFill/>
          <a:ln/>
        </p:spPr>
        <p:txBody>
          <a:bodyPr wrap="square" lIns="0" tIns="0" rIns="0" bIns="0" rtlCol="0" anchor="t">
            <a:spAutoFit/>
          </a:bodyPr>
          <a:lstStyle/>
          <a:p>
            <a:pPr algn="l" indent="0" marL="0">
              <a:buNone/>
            </a:pPr>
            <a:r>
              <a:rPr lang="en-US" sz="1050" dirty="0">
                <a:solidFill>
                  <a:srgbClr val="666666"/>
                </a:solidFill>
                <a:latin typeface="Segoe UI" pitchFamily="34" charset="0"/>
                <a:ea typeface="Segoe UI" pitchFamily="34" charset="-122"/>
                <a:cs typeface="Segoe UI" pitchFamily="34" charset="-120"/>
              </a:rPr>
              <a:t>End-to-End Workflow for Real-Time Text Classification</a:t>
            </a:r>
            <a:endParaRPr lang="en-US" sz="1050" dirty="0"/>
          </a:p>
        </p:txBody>
      </p:sp>
      <p:sp>
        <p:nvSpPr>
          <p:cNvPr id="6" name="Shape 2"/>
          <p:cNvSpPr/>
          <p:nvPr/>
        </p:nvSpPr>
        <p:spPr>
          <a:xfrm>
            <a:off x="578644" y="1531441"/>
            <a:ext cx="1328738" cy="1614488"/>
          </a:xfrm>
          <a:prstGeom prst="rect">
            <a:avLst/>
          </a:prstGeom>
          <a:solidFill>
            <a:srgbClr val="FFFFFF"/>
          </a:solidFill>
          <a:ln w="18288">
            <a:solidFill>
              <a:srgbClr val="002244"/>
            </a:solidFill>
            <a:prstDash val="solid"/>
          </a:ln>
        </p:spPr>
      </p:sp>
      <p:pic>
        <p:nvPicPr>
          <p:cNvPr id="7" name="Image 1" descr="preencoded.png">    </p:cNvPr>
          <p:cNvPicPr>
            <a:picLocks noChangeAspect="1"/>
          </p:cNvPicPr>
          <p:nvPr/>
        </p:nvPicPr>
        <p:blipFill>
          <a:blip r:embed="rId2"/>
          <a:stretch>
            <a:fillRect/>
          </a:stretch>
        </p:blipFill>
        <p:spPr>
          <a:xfrm>
            <a:off x="1078706" y="1695748"/>
            <a:ext cx="285750" cy="285750"/>
          </a:xfrm>
          <a:prstGeom prst="rect">
            <a:avLst/>
          </a:prstGeom>
        </p:spPr>
      </p:pic>
      <p:sp>
        <p:nvSpPr>
          <p:cNvPr id="8" name="Text 3"/>
          <p:cNvSpPr/>
          <p:nvPr/>
        </p:nvSpPr>
        <p:spPr>
          <a:xfrm>
            <a:off x="978638" y="2081510"/>
            <a:ext cx="485831" cy="132159"/>
          </a:xfrm>
          <a:prstGeom prst="rect">
            <a:avLst/>
          </a:prstGeom>
          <a:noFill/>
          <a:ln/>
        </p:spPr>
        <p:txBody>
          <a:bodyPr wrap="none" lIns="85090" tIns="0" rIns="8509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INPUT</a:t>
            </a:r>
            <a:endParaRPr lang="en-US" sz="800" dirty="0"/>
          </a:p>
        </p:txBody>
      </p:sp>
      <p:sp>
        <p:nvSpPr>
          <p:cNvPr id="9" name="Text 4"/>
          <p:cNvSpPr/>
          <p:nvPr/>
        </p:nvSpPr>
        <p:spPr>
          <a:xfrm>
            <a:off x="598289" y="2299395"/>
            <a:ext cx="1246584" cy="119993"/>
          </a:xfrm>
          <a:prstGeom prst="rect">
            <a:avLst/>
          </a:prstGeom>
          <a:noFill/>
          <a:ln/>
        </p:spPr>
        <p:txBody>
          <a:bodyPr wrap="none" lIns="85090" tIns="0" rIns="8509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Raw Email or SMS Text Data</a:t>
            </a:r>
            <a:endParaRPr lang="en-US" sz="600" dirty="0"/>
          </a:p>
        </p:txBody>
      </p:sp>
      <p:pic>
        <p:nvPicPr>
          <p:cNvPr id="10" name="Image 2" descr="preencoded.png">    </p:cNvPr>
          <p:cNvPicPr>
            <a:picLocks noChangeAspect="1"/>
          </p:cNvPicPr>
          <p:nvPr/>
        </p:nvPicPr>
        <p:blipFill>
          <a:blip r:embed="rId3"/>
          <a:stretch>
            <a:fillRect/>
          </a:stretch>
        </p:blipFill>
        <p:spPr>
          <a:xfrm>
            <a:off x="1969889" y="2231529"/>
            <a:ext cx="135731" cy="214313"/>
          </a:xfrm>
          <a:prstGeom prst="rect">
            <a:avLst/>
          </a:prstGeom>
        </p:spPr>
      </p:pic>
      <p:sp>
        <p:nvSpPr>
          <p:cNvPr id="11" name="Shape 5"/>
          <p:cNvSpPr/>
          <p:nvPr/>
        </p:nvSpPr>
        <p:spPr>
          <a:xfrm>
            <a:off x="2210991" y="1531441"/>
            <a:ext cx="1328738" cy="1614488"/>
          </a:xfrm>
          <a:prstGeom prst="rect">
            <a:avLst/>
          </a:prstGeom>
          <a:solidFill>
            <a:srgbClr val="FFFFFF"/>
          </a:solidFill>
          <a:ln w="18288">
            <a:solidFill>
              <a:srgbClr val="002244"/>
            </a:solidFill>
            <a:prstDash val="solid"/>
          </a:ln>
        </p:spPr>
      </p:sp>
      <p:pic>
        <p:nvPicPr>
          <p:cNvPr id="12" name="Image 3" descr="preencoded.png">    </p:cNvPr>
          <p:cNvPicPr>
            <a:picLocks noChangeAspect="1"/>
          </p:cNvPicPr>
          <p:nvPr/>
        </p:nvPicPr>
        <p:blipFill>
          <a:blip r:embed="rId4"/>
          <a:stretch>
            <a:fillRect/>
          </a:stretch>
        </p:blipFill>
        <p:spPr>
          <a:xfrm>
            <a:off x="2686050" y="1695748"/>
            <a:ext cx="357188" cy="285750"/>
          </a:xfrm>
          <a:prstGeom prst="rect">
            <a:avLst/>
          </a:prstGeom>
        </p:spPr>
      </p:pic>
      <p:sp>
        <p:nvSpPr>
          <p:cNvPr id="13" name="Text 6"/>
          <p:cNvSpPr/>
          <p:nvPr/>
        </p:nvSpPr>
        <p:spPr>
          <a:xfrm>
            <a:off x="2347336" y="2081510"/>
            <a:ext cx="1034560" cy="132159"/>
          </a:xfrm>
          <a:prstGeom prst="rect">
            <a:avLst/>
          </a:prstGeom>
          <a:noFill/>
          <a:ln/>
        </p:spPr>
        <p:txBody>
          <a:bodyPr wrap="none" lIns="85090" tIns="0" rIns="8509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PREPROCESSING</a:t>
            </a:r>
            <a:endParaRPr lang="en-US" sz="800" dirty="0"/>
          </a:p>
        </p:txBody>
      </p:sp>
      <p:sp>
        <p:nvSpPr>
          <p:cNvPr id="14" name="Text 7"/>
          <p:cNvSpPr/>
          <p:nvPr/>
        </p:nvSpPr>
        <p:spPr>
          <a:xfrm>
            <a:off x="2221706" y="2299395"/>
            <a:ext cx="1285875" cy="239985"/>
          </a:xfrm>
          <a:prstGeom prst="rect">
            <a:avLst/>
          </a:prstGeom>
          <a:noFill/>
          <a:ln/>
        </p:spPr>
        <p:txBody>
          <a:bodyPr wrap="square" lIns="85090" tIns="0" rIns="8509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Cleaning, Tokenization &amp; Stemming</a:t>
            </a:r>
            <a:endParaRPr lang="en-US" sz="600" dirty="0"/>
          </a:p>
        </p:txBody>
      </p:sp>
      <p:pic>
        <p:nvPicPr>
          <p:cNvPr id="15" name="Image 4" descr="preencoded.png">    </p:cNvPr>
          <p:cNvPicPr>
            <a:picLocks noChangeAspect="1"/>
          </p:cNvPicPr>
          <p:nvPr/>
        </p:nvPicPr>
        <p:blipFill>
          <a:blip r:embed="rId5"/>
          <a:stretch>
            <a:fillRect/>
          </a:stretch>
        </p:blipFill>
        <p:spPr>
          <a:xfrm>
            <a:off x="3618309" y="2231529"/>
            <a:ext cx="135731" cy="214313"/>
          </a:xfrm>
          <a:prstGeom prst="rect">
            <a:avLst/>
          </a:prstGeom>
        </p:spPr>
      </p:pic>
      <p:sp>
        <p:nvSpPr>
          <p:cNvPr id="16" name="Shape 8"/>
          <p:cNvSpPr/>
          <p:nvPr/>
        </p:nvSpPr>
        <p:spPr>
          <a:xfrm>
            <a:off x="3864769" y="1531441"/>
            <a:ext cx="1328738" cy="1614488"/>
          </a:xfrm>
          <a:prstGeom prst="rect">
            <a:avLst/>
          </a:prstGeom>
          <a:solidFill>
            <a:srgbClr val="FFFFFF"/>
          </a:solidFill>
          <a:ln w="18288">
            <a:solidFill>
              <a:srgbClr val="002244"/>
            </a:solidFill>
            <a:prstDash val="solid"/>
          </a:ln>
        </p:spPr>
      </p:sp>
      <p:pic>
        <p:nvPicPr>
          <p:cNvPr id="17" name="Image 5" descr="preencoded.png">    </p:cNvPr>
          <p:cNvPicPr>
            <a:picLocks noChangeAspect="1"/>
          </p:cNvPicPr>
          <p:nvPr/>
        </p:nvPicPr>
        <p:blipFill>
          <a:blip r:embed="rId6"/>
          <a:stretch>
            <a:fillRect/>
          </a:stretch>
        </p:blipFill>
        <p:spPr>
          <a:xfrm>
            <a:off x="4421981" y="1695748"/>
            <a:ext cx="214313" cy="285750"/>
          </a:xfrm>
          <a:prstGeom prst="rect">
            <a:avLst/>
          </a:prstGeom>
        </p:spPr>
      </p:pic>
      <p:sp>
        <p:nvSpPr>
          <p:cNvPr id="18" name="Text 9"/>
          <p:cNvSpPr/>
          <p:nvPr/>
        </p:nvSpPr>
        <p:spPr>
          <a:xfrm>
            <a:off x="4011830" y="2081510"/>
            <a:ext cx="1034560" cy="132159"/>
          </a:xfrm>
          <a:prstGeom prst="rect">
            <a:avLst/>
          </a:prstGeom>
          <a:noFill/>
          <a:ln/>
        </p:spPr>
        <p:txBody>
          <a:bodyPr wrap="none" lIns="85090" tIns="0" rIns="8509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VECTORIZATION</a:t>
            </a:r>
            <a:endParaRPr lang="en-US" sz="800" dirty="0"/>
          </a:p>
        </p:txBody>
      </p:sp>
      <p:sp>
        <p:nvSpPr>
          <p:cNvPr id="19" name="Text 10"/>
          <p:cNvSpPr/>
          <p:nvPr/>
        </p:nvSpPr>
        <p:spPr>
          <a:xfrm>
            <a:off x="3886200" y="2299395"/>
            <a:ext cx="1285875" cy="239985"/>
          </a:xfrm>
          <a:prstGeom prst="rect">
            <a:avLst/>
          </a:prstGeom>
          <a:noFill/>
          <a:ln/>
        </p:spPr>
        <p:txBody>
          <a:bodyPr wrap="square" lIns="85090" tIns="0" rIns="8509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TF-IDF Numerical Transformation</a:t>
            </a:r>
            <a:endParaRPr lang="en-US" sz="600" dirty="0"/>
          </a:p>
        </p:txBody>
      </p:sp>
      <p:pic>
        <p:nvPicPr>
          <p:cNvPr id="20" name="Image 6" descr="preencoded.png">    </p:cNvPr>
          <p:cNvPicPr>
            <a:picLocks noChangeAspect="1"/>
          </p:cNvPicPr>
          <p:nvPr/>
        </p:nvPicPr>
        <p:blipFill>
          <a:blip r:embed="rId7"/>
          <a:stretch>
            <a:fillRect/>
          </a:stretch>
        </p:blipFill>
        <p:spPr>
          <a:xfrm>
            <a:off x="5288161" y="2231529"/>
            <a:ext cx="135731" cy="214313"/>
          </a:xfrm>
          <a:prstGeom prst="rect">
            <a:avLst/>
          </a:prstGeom>
        </p:spPr>
      </p:pic>
      <p:sp>
        <p:nvSpPr>
          <p:cNvPr id="21" name="Shape 11"/>
          <p:cNvSpPr/>
          <p:nvPr/>
        </p:nvSpPr>
        <p:spPr>
          <a:xfrm>
            <a:off x="5539978" y="1531441"/>
            <a:ext cx="1328738" cy="1614488"/>
          </a:xfrm>
          <a:prstGeom prst="rect">
            <a:avLst/>
          </a:prstGeom>
          <a:solidFill>
            <a:srgbClr val="FFFFFF"/>
          </a:solidFill>
          <a:ln w="18288">
            <a:solidFill>
              <a:srgbClr val="002244"/>
            </a:solidFill>
            <a:prstDash val="solid"/>
          </a:ln>
        </p:spPr>
      </p:sp>
      <p:pic>
        <p:nvPicPr>
          <p:cNvPr id="22" name="Image 7" descr="preencoded.png">    </p:cNvPr>
          <p:cNvPicPr>
            <a:picLocks noChangeAspect="1"/>
          </p:cNvPicPr>
          <p:nvPr/>
        </p:nvPicPr>
        <p:blipFill>
          <a:blip r:embed="rId8"/>
          <a:stretch>
            <a:fillRect/>
          </a:stretch>
        </p:blipFill>
        <p:spPr>
          <a:xfrm>
            <a:off x="6072188" y="1695748"/>
            <a:ext cx="285750" cy="285750"/>
          </a:xfrm>
          <a:prstGeom prst="rect">
            <a:avLst/>
          </a:prstGeom>
        </p:spPr>
      </p:pic>
      <p:sp>
        <p:nvSpPr>
          <p:cNvPr id="23" name="Text 12"/>
          <p:cNvSpPr/>
          <p:nvPr/>
        </p:nvSpPr>
        <p:spPr>
          <a:xfrm>
            <a:off x="5663487" y="2081510"/>
            <a:ext cx="1103151" cy="132159"/>
          </a:xfrm>
          <a:prstGeom prst="rect">
            <a:avLst/>
          </a:prstGeom>
          <a:noFill/>
          <a:ln/>
        </p:spPr>
        <p:txBody>
          <a:bodyPr wrap="none" lIns="85090" tIns="0" rIns="8509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CLASSIFICATION</a:t>
            </a:r>
            <a:endParaRPr lang="en-US" sz="800" dirty="0"/>
          </a:p>
        </p:txBody>
      </p:sp>
      <p:sp>
        <p:nvSpPr>
          <p:cNvPr id="24" name="Text 13"/>
          <p:cNvSpPr/>
          <p:nvPr/>
        </p:nvSpPr>
        <p:spPr>
          <a:xfrm>
            <a:off x="5572125" y="2299395"/>
            <a:ext cx="1285875" cy="239985"/>
          </a:xfrm>
          <a:prstGeom prst="rect">
            <a:avLst/>
          </a:prstGeom>
          <a:noFill/>
          <a:ln/>
        </p:spPr>
        <p:txBody>
          <a:bodyPr wrap="square" lIns="85090" tIns="0" rIns="8509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Optimized ML Model Prediction</a:t>
            </a:r>
            <a:endParaRPr lang="en-US" sz="600" dirty="0"/>
          </a:p>
        </p:txBody>
      </p:sp>
      <p:pic>
        <p:nvPicPr>
          <p:cNvPr id="25" name="Image 8" descr="preencoded.png">    </p:cNvPr>
          <p:cNvPicPr>
            <a:picLocks noChangeAspect="1"/>
          </p:cNvPicPr>
          <p:nvPr/>
        </p:nvPicPr>
        <p:blipFill>
          <a:blip r:embed="rId9"/>
          <a:stretch>
            <a:fillRect/>
          </a:stretch>
        </p:blipFill>
        <p:spPr>
          <a:xfrm>
            <a:off x="6979444" y="2231529"/>
            <a:ext cx="135731" cy="214313"/>
          </a:xfrm>
          <a:prstGeom prst="rect">
            <a:avLst/>
          </a:prstGeom>
        </p:spPr>
      </p:pic>
      <p:sp>
        <p:nvSpPr>
          <p:cNvPr id="26" name="Shape 14"/>
          <p:cNvSpPr/>
          <p:nvPr/>
        </p:nvSpPr>
        <p:spPr>
          <a:xfrm>
            <a:off x="7236619" y="1531441"/>
            <a:ext cx="1328738" cy="1614488"/>
          </a:xfrm>
          <a:prstGeom prst="rect">
            <a:avLst/>
          </a:prstGeom>
          <a:solidFill>
            <a:srgbClr val="FFFFFF"/>
          </a:solidFill>
          <a:ln w="18288">
            <a:solidFill>
              <a:srgbClr val="002244"/>
            </a:solidFill>
            <a:prstDash val="solid"/>
          </a:ln>
        </p:spPr>
      </p:sp>
      <p:pic>
        <p:nvPicPr>
          <p:cNvPr id="27" name="Image 9" descr="preencoded.png">    </p:cNvPr>
          <p:cNvPicPr>
            <a:picLocks noChangeAspect="1"/>
          </p:cNvPicPr>
          <p:nvPr/>
        </p:nvPicPr>
        <p:blipFill>
          <a:blip r:embed="rId10"/>
          <a:stretch>
            <a:fillRect/>
          </a:stretch>
        </p:blipFill>
        <p:spPr>
          <a:xfrm>
            <a:off x="7797403" y="1674316"/>
            <a:ext cx="250031" cy="285750"/>
          </a:xfrm>
          <a:prstGeom prst="rect">
            <a:avLst/>
          </a:prstGeom>
        </p:spPr>
      </p:pic>
      <p:sp>
        <p:nvSpPr>
          <p:cNvPr id="28" name="Text 15"/>
          <p:cNvSpPr/>
          <p:nvPr/>
        </p:nvSpPr>
        <p:spPr>
          <a:xfrm>
            <a:off x="7645208" y="2060079"/>
            <a:ext cx="554422" cy="132159"/>
          </a:xfrm>
          <a:prstGeom prst="rect">
            <a:avLst/>
          </a:prstGeom>
          <a:noFill/>
          <a:ln/>
        </p:spPr>
        <p:txBody>
          <a:bodyPr wrap="none" lIns="85090" tIns="0" rIns="8509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OUTPUT</a:t>
            </a:r>
            <a:endParaRPr lang="en-US" sz="800" dirty="0"/>
          </a:p>
        </p:txBody>
      </p:sp>
      <p:sp>
        <p:nvSpPr>
          <p:cNvPr id="29" name="Text 16"/>
          <p:cNvSpPr/>
          <p:nvPr/>
        </p:nvSpPr>
        <p:spPr>
          <a:xfrm>
            <a:off x="7279481" y="2277963"/>
            <a:ext cx="1285875" cy="239985"/>
          </a:xfrm>
          <a:prstGeom prst="rect">
            <a:avLst/>
          </a:prstGeom>
          <a:noFill/>
          <a:ln/>
        </p:spPr>
        <p:txBody>
          <a:bodyPr wrap="square" lIns="85090" tIns="0" rIns="8509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Spam/Ham Result &amp; Confidence Score</a:t>
            </a:r>
            <a:endParaRPr lang="en-US" sz="600" dirty="0"/>
          </a:p>
        </p:txBody>
      </p:sp>
      <p:sp>
        <p:nvSpPr>
          <p:cNvPr id="30" name="Text 17"/>
          <p:cNvSpPr/>
          <p:nvPr/>
        </p:nvSpPr>
        <p:spPr>
          <a:xfrm>
            <a:off x="1393031" y="3538835"/>
            <a:ext cx="1016087" cy="128588"/>
          </a:xfrm>
          <a:prstGeom prst="rect">
            <a:avLst/>
          </a:prstGeom>
          <a:noFill/>
          <a:ln/>
        </p:spPr>
        <p:txBody>
          <a:bodyPr wrap="none" lIns="0" tIns="0" rIns="0" bIns="0" rtlCol="0" anchor="t">
            <a:spAutoFit/>
          </a:bodyPr>
          <a:lstStyle/>
          <a:p>
            <a:pPr algn="l" indent="0" marL="0">
              <a:buNone/>
            </a:pPr>
            <a:r>
              <a:rPr lang="en-US" sz="800" b="1" dirty="0">
                <a:solidFill>
                  <a:srgbClr val="002244"/>
                </a:solidFill>
                <a:latin typeface="Segoe UI" pitchFamily="34" charset="0"/>
                <a:ea typeface="Segoe UI" pitchFamily="34" charset="-122"/>
                <a:cs typeface="Segoe UI" pitchFamily="34" charset="-120"/>
              </a:rPr>
              <a:t>FAST INFERENCE</a:t>
            </a:r>
            <a:endParaRPr lang="en-US" sz="800" dirty="0"/>
          </a:p>
        </p:txBody>
      </p:sp>
      <p:sp>
        <p:nvSpPr>
          <p:cNvPr id="31" name="Text 18"/>
          <p:cNvSpPr/>
          <p:nvPr/>
        </p:nvSpPr>
        <p:spPr>
          <a:xfrm>
            <a:off x="3959312" y="3538835"/>
            <a:ext cx="1124024" cy="128588"/>
          </a:xfrm>
          <a:prstGeom prst="rect">
            <a:avLst/>
          </a:prstGeom>
          <a:noFill/>
          <a:ln/>
        </p:spPr>
        <p:txBody>
          <a:bodyPr wrap="none" lIns="0" tIns="0" rIns="0" bIns="0" rtlCol="0" anchor="t">
            <a:spAutoFit/>
          </a:bodyPr>
          <a:lstStyle/>
          <a:p>
            <a:pPr algn="l" indent="0" marL="0">
              <a:buNone/>
            </a:pPr>
            <a:r>
              <a:rPr lang="en-US" sz="800" b="1" dirty="0">
                <a:solidFill>
                  <a:srgbClr val="002244"/>
                </a:solidFill>
                <a:latin typeface="Segoe UI" pitchFamily="34" charset="0"/>
                <a:ea typeface="Segoe UI" pitchFamily="34" charset="-122"/>
                <a:cs typeface="Segoe UI" pitchFamily="34" charset="-120"/>
              </a:rPr>
              <a:t>SCALABLE DESIGN</a:t>
            </a:r>
            <a:endParaRPr lang="en-US" sz="800" dirty="0"/>
          </a:p>
        </p:txBody>
      </p:sp>
      <p:sp>
        <p:nvSpPr>
          <p:cNvPr id="32" name="Text 19"/>
          <p:cNvSpPr/>
          <p:nvPr/>
        </p:nvSpPr>
        <p:spPr>
          <a:xfrm>
            <a:off x="6633530" y="3538835"/>
            <a:ext cx="1195908" cy="128588"/>
          </a:xfrm>
          <a:prstGeom prst="rect">
            <a:avLst/>
          </a:prstGeom>
          <a:noFill/>
          <a:ln/>
        </p:spPr>
        <p:txBody>
          <a:bodyPr wrap="none" lIns="0" tIns="0" rIns="0" bIns="0" rtlCol="0" anchor="t">
            <a:spAutoFit/>
          </a:bodyPr>
          <a:lstStyle/>
          <a:p>
            <a:pPr algn="l" indent="0" marL="0">
              <a:buNone/>
            </a:pPr>
            <a:r>
              <a:rPr lang="en-US" sz="800" b="1" dirty="0">
                <a:solidFill>
                  <a:srgbClr val="002244"/>
                </a:solidFill>
                <a:latin typeface="Segoe UI" pitchFamily="34" charset="0"/>
                <a:ea typeface="Segoe UI" pitchFamily="34" charset="-122"/>
                <a:cs typeface="Segoe UI" pitchFamily="34" charset="-120"/>
              </a:rPr>
              <a:t>ROBUST ACCURACY</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57150" y="57150"/>
            <a:ext cx="9029700" cy="5143500"/>
          </a:xfrm>
          <a:prstGeom prst="rect">
            <a:avLst/>
          </a:prstGeom>
        </p:spPr>
      </p:pic>
      <p:sp>
        <p:nvSpPr>
          <p:cNvPr id="4" name="Text 0"/>
          <p:cNvSpPr/>
          <p:nvPr/>
        </p:nvSpPr>
        <p:spPr>
          <a:xfrm>
            <a:off x="635794" y="682619"/>
            <a:ext cx="4392681" cy="257175"/>
          </a:xfrm>
          <a:prstGeom prst="rect">
            <a:avLst/>
          </a:prstGeom>
          <a:noFill/>
          <a:ln/>
        </p:spPr>
        <p:txBody>
          <a:bodyPr wrap="square" lIns="0" tIns="0" rIns="0" bIns="0" rtlCol="0" anchor="t">
            <a:spAutoFit/>
          </a:bodyPr>
          <a:lstStyle/>
          <a:p>
            <a:pPr algn="l" indent="0" marL="0">
              <a:buNone/>
            </a:pPr>
            <a:r>
              <a:rPr lang="en-US" sz="1600" b="1" spc="2" kern="0" dirty="0">
                <a:solidFill>
                  <a:srgbClr val="002244"/>
                </a:solidFill>
                <a:latin typeface="Courier New" pitchFamily="34" charset="0"/>
                <a:ea typeface="Courier New" pitchFamily="34" charset="-122"/>
                <a:cs typeface="Courier New" pitchFamily="34" charset="-120"/>
              </a:rPr>
              <a:t>COMPARATIVE ANALYSIS</a:t>
            </a:r>
            <a:endParaRPr lang="en-US" sz="1600" dirty="0"/>
          </a:p>
        </p:txBody>
      </p:sp>
      <p:sp>
        <p:nvSpPr>
          <p:cNvPr id="5" name="Text 1"/>
          <p:cNvSpPr/>
          <p:nvPr/>
        </p:nvSpPr>
        <p:spPr>
          <a:xfrm>
            <a:off x="635794" y="1068381"/>
            <a:ext cx="4392681" cy="150019"/>
          </a:xfrm>
          <a:prstGeom prst="rect">
            <a:avLst/>
          </a:prstGeom>
          <a:noFill/>
          <a:ln/>
        </p:spPr>
        <p:txBody>
          <a:bodyPr wrap="square" lIns="0" tIns="0" rIns="0" bIns="0" rtlCol="0" anchor="t">
            <a:spAutoFit/>
          </a:bodyPr>
          <a:lstStyle/>
          <a:p>
            <a:pPr algn="l" indent="0" marL="0">
              <a:buNone/>
            </a:pPr>
            <a:r>
              <a:rPr lang="en-US" sz="950" dirty="0">
                <a:solidFill>
                  <a:srgbClr val="666666"/>
                </a:solidFill>
                <a:latin typeface="Segoe UI" pitchFamily="34" charset="0"/>
                <a:ea typeface="Segoe UI" pitchFamily="34" charset="-122"/>
                <a:cs typeface="Segoe UI" pitchFamily="34" charset="-120"/>
              </a:rPr>
              <a:t>Quantifying Improvements Through Optimization</a:t>
            </a:r>
            <a:endParaRPr lang="en-US" sz="950" dirty="0"/>
          </a:p>
        </p:txBody>
      </p:sp>
      <p:sp>
        <p:nvSpPr>
          <p:cNvPr id="6" name="Shape 2"/>
          <p:cNvSpPr/>
          <p:nvPr/>
        </p:nvSpPr>
        <p:spPr>
          <a:xfrm>
            <a:off x="635794" y="1504150"/>
            <a:ext cx="4392681" cy="1389459"/>
          </a:xfrm>
          <a:prstGeom prst="rect">
            <a:avLst/>
          </a:prstGeom>
          <a:solidFill>
            <a:srgbClr val="FFFFFF"/>
          </a:solidFill>
          <a:ln w="18288">
            <a:solidFill>
              <a:srgbClr val="002244"/>
            </a:solidFill>
            <a:prstDash val="solid"/>
          </a:ln>
        </p:spPr>
      </p:sp>
      <p:sp>
        <p:nvSpPr>
          <p:cNvPr id="7" name="Shape 3"/>
          <p:cNvSpPr/>
          <p:nvPr/>
        </p:nvSpPr>
        <p:spPr>
          <a:xfrm>
            <a:off x="639366" y="1507722"/>
            <a:ext cx="1235199" cy="267891"/>
          </a:xfrm>
          <a:prstGeom prst="rect">
            <a:avLst/>
          </a:prstGeom>
          <a:solidFill>
            <a:srgbClr val="002244"/>
          </a:solidFill>
          <a:ln w="9144">
            <a:solidFill>
              <a:srgbClr val="D1D9E6"/>
            </a:solidFill>
            <a:prstDash val="solid"/>
          </a:ln>
        </p:spPr>
      </p:sp>
      <p:sp>
        <p:nvSpPr>
          <p:cNvPr id="8" name="Text 4"/>
          <p:cNvSpPr/>
          <p:nvPr/>
        </p:nvSpPr>
        <p:spPr>
          <a:xfrm>
            <a:off x="639366" y="1507722"/>
            <a:ext cx="1235199" cy="267891"/>
          </a:xfrm>
          <a:prstGeom prst="rect">
            <a:avLst/>
          </a:prstGeom>
          <a:noFill/>
          <a:ln/>
        </p:spPr>
        <p:txBody>
          <a:bodyPr wrap="none" lIns="127508" tIns="127508" rIns="8509" bIns="8509" rtlCol="0" anchor="ctr">
            <a:spAutoFit/>
          </a:bodyPr>
          <a:lstStyle/>
          <a:p>
            <a:pPr algn="l" indent="0" marL="0">
              <a:buNone/>
            </a:pPr>
            <a:r>
              <a:rPr lang="en-US" sz="900" b="1" dirty="0">
                <a:solidFill>
                  <a:srgbClr val="FFFFFF"/>
                </a:solidFill>
                <a:latin typeface="Courier New" pitchFamily="34" charset="0"/>
                <a:ea typeface="Courier New" pitchFamily="34" charset="-122"/>
                <a:cs typeface="Courier New" pitchFamily="34" charset="-120"/>
              </a:rPr>
              <a:t>METRIC</a:t>
            </a:r>
            <a:endParaRPr lang="en-US" sz="900" dirty="0"/>
          </a:p>
        </p:txBody>
      </p:sp>
      <p:sp>
        <p:nvSpPr>
          <p:cNvPr id="9" name="Shape 5"/>
          <p:cNvSpPr/>
          <p:nvPr/>
        </p:nvSpPr>
        <p:spPr>
          <a:xfrm>
            <a:off x="1874565" y="1507722"/>
            <a:ext cx="1110128" cy="267891"/>
          </a:xfrm>
          <a:prstGeom prst="rect">
            <a:avLst/>
          </a:prstGeom>
          <a:solidFill>
            <a:srgbClr val="002244"/>
          </a:solidFill>
          <a:ln w="9144">
            <a:solidFill>
              <a:srgbClr val="D1D9E6"/>
            </a:solidFill>
            <a:prstDash val="solid"/>
          </a:ln>
        </p:spPr>
      </p:sp>
      <p:sp>
        <p:nvSpPr>
          <p:cNvPr id="10" name="Text 6"/>
          <p:cNvSpPr/>
          <p:nvPr/>
        </p:nvSpPr>
        <p:spPr>
          <a:xfrm>
            <a:off x="1874565" y="1507722"/>
            <a:ext cx="1110128" cy="267891"/>
          </a:xfrm>
          <a:prstGeom prst="rect">
            <a:avLst/>
          </a:prstGeom>
          <a:noFill/>
          <a:ln/>
        </p:spPr>
        <p:txBody>
          <a:bodyPr wrap="none" lIns="127508" tIns="127508" rIns="8509" bIns="8509" rtlCol="0" anchor="ctr">
            <a:spAutoFit/>
          </a:bodyPr>
          <a:lstStyle/>
          <a:p>
            <a:pPr algn="l" indent="0" marL="0">
              <a:buNone/>
            </a:pPr>
            <a:r>
              <a:rPr lang="en-US" sz="900" b="1" dirty="0">
                <a:solidFill>
                  <a:srgbClr val="FFFFFF"/>
                </a:solidFill>
                <a:latin typeface="Courier New" pitchFamily="34" charset="0"/>
                <a:ea typeface="Courier New" pitchFamily="34" charset="-122"/>
                <a:cs typeface="Courier New" pitchFamily="34" charset="-120"/>
              </a:rPr>
              <a:t>WEEK 2</a:t>
            </a:r>
            <a:endParaRPr lang="en-US" sz="900" dirty="0"/>
          </a:p>
        </p:txBody>
      </p:sp>
      <p:sp>
        <p:nvSpPr>
          <p:cNvPr id="11" name="Shape 7"/>
          <p:cNvSpPr/>
          <p:nvPr/>
        </p:nvSpPr>
        <p:spPr>
          <a:xfrm>
            <a:off x="2981511" y="1507722"/>
            <a:ext cx="1111858" cy="267891"/>
          </a:xfrm>
          <a:prstGeom prst="rect">
            <a:avLst/>
          </a:prstGeom>
          <a:solidFill>
            <a:srgbClr val="002244"/>
          </a:solidFill>
          <a:ln w="9144">
            <a:solidFill>
              <a:srgbClr val="D1D9E6"/>
            </a:solidFill>
            <a:prstDash val="solid"/>
          </a:ln>
        </p:spPr>
      </p:sp>
      <p:sp>
        <p:nvSpPr>
          <p:cNvPr id="12" name="Text 8"/>
          <p:cNvSpPr/>
          <p:nvPr/>
        </p:nvSpPr>
        <p:spPr>
          <a:xfrm>
            <a:off x="2981511" y="1507722"/>
            <a:ext cx="1111858" cy="267891"/>
          </a:xfrm>
          <a:prstGeom prst="rect">
            <a:avLst/>
          </a:prstGeom>
          <a:noFill/>
          <a:ln/>
        </p:spPr>
        <p:txBody>
          <a:bodyPr wrap="none" lIns="127508" tIns="127508" rIns="8509" bIns="8509" rtlCol="0" anchor="ctr">
            <a:spAutoFit/>
          </a:bodyPr>
          <a:lstStyle/>
          <a:p>
            <a:pPr algn="l" indent="0" marL="0">
              <a:buNone/>
            </a:pPr>
            <a:r>
              <a:rPr lang="en-US" sz="900" b="1" dirty="0">
                <a:solidFill>
                  <a:srgbClr val="FFFFFF"/>
                </a:solidFill>
                <a:latin typeface="Courier New" pitchFamily="34" charset="0"/>
                <a:ea typeface="Courier New" pitchFamily="34" charset="-122"/>
                <a:cs typeface="Courier New" pitchFamily="34" charset="-120"/>
              </a:rPr>
              <a:t>WEEK 3</a:t>
            </a:r>
            <a:endParaRPr lang="en-US" sz="900" dirty="0"/>
          </a:p>
        </p:txBody>
      </p:sp>
      <p:sp>
        <p:nvSpPr>
          <p:cNvPr id="13" name="Shape 9"/>
          <p:cNvSpPr/>
          <p:nvPr/>
        </p:nvSpPr>
        <p:spPr>
          <a:xfrm>
            <a:off x="4090411" y="1507722"/>
            <a:ext cx="934492" cy="267891"/>
          </a:xfrm>
          <a:prstGeom prst="rect">
            <a:avLst/>
          </a:prstGeom>
          <a:solidFill>
            <a:srgbClr val="002244"/>
          </a:solidFill>
          <a:ln w="9144">
            <a:solidFill>
              <a:srgbClr val="D1D9E6"/>
            </a:solidFill>
            <a:prstDash val="solid"/>
          </a:ln>
        </p:spPr>
      </p:sp>
      <p:sp>
        <p:nvSpPr>
          <p:cNvPr id="14" name="Text 10"/>
          <p:cNvSpPr/>
          <p:nvPr/>
        </p:nvSpPr>
        <p:spPr>
          <a:xfrm>
            <a:off x="4090411" y="1507722"/>
            <a:ext cx="934492" cy="267891"/>
          </a:xfrm>
          <a:prstGeom prst="rect">
            <a:avLst/>
          </a:prstGeom>
          <a:noFill/>
          <a:ln/>
        </p:spPr>
        <p:txBody>
          <a:bodyPr wrap="none" lIns="127508" tIns="127508" rIns="8509" bIns="8509" rtlCol="0" anchor="ctr">
            <a:spAutoFit/>
          </a:bodyPr>
          <a:lstStyle/>
          <a:p>
            <a:pPr algn="l" indent="0" marL="0">
              <a:buNone/>
            </a:pPr>
            <a:r>
              <a:rPr lang="en-US" sz="900" b="1" dirty="0">
                <a:solidFill>
                  <a:srgbClr val="FFFFFF"/>
                </a:solidFill>
                <a:latin typeface="Courier New" pitchFamily="34" charset="0"/>
                <a:ea typeface="Courier New" pitchFamily="34" charset="-122"/>
                <a:cs typeface="Courier New" pitchFamily="34" charset="-120"/>
              </a:rPr>
              <a:t>GAIN</a:t>
            </a:r>
            <a:endParaRPr lang="en-US" sz="900" dirty="0"/>
          </a:p>
        </p:txBody>
      </p:sp>
      <p:sp>
        <p:nvSpPr>
          <p:cNvPr id="15" name="Text 11"/>
          <p:cNvSpPr/>
          <p:nvPr/>
        </p:nvSpPr>
        <p:spPr>
          <a:xfrm>
            <a:off x="639366" y="1768469"/>
            <a:ext cx="1242901" cy="271463"/>
          </a:xfrm>
          <a:prstGeom prst="rect">
            <a:avLst/>
          </a:prstGeom>
          <a:noFill/>
          <a:ln/>
        </p:spPr>
        <p:txBody>
          <a:bodyPr wrap="none" lIns="127508" tIns="127508" rIns="8509" bIns="8509" rtlCol="0" anchor="ctr">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Accuracy</a:t>
            </a:r>
            <a:endParaRPr lang="en-US" sz="950" dirty="0"/>
          </a:p>
        </p:txBody>
      </p:sp>
      <p:sp>
        <p:nvSpPr>
          <p:cNvPr id="16" name="Text 12"/>
          <p:cNvSpPr/>
          <p:nvPr/>
        </p:nvSpPr>
        <p:spPr>
          <a:xfrm>
            <a:off x="1882267" y="1768469"/>
            <a:ext cx="1103375" cy="271463"/>
          </a:xfrm>
          <a:prstGeom prst="rect">
            <a:avLst/>
          </a:prstGeom>
          <a:noFill/>
          <a:ln/>
        </p:spPr>
        <p:txBody>
          <a:bodyPr wrap="none" lIns="127508" tIns="127508" rIns="8509" bIns="8509" rtlCol="0" anchor="ctr">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95.2%</a:t>
            </a:r>
            <a:endParaRPr lang="en-US" sz="950" dirty="0"/>
          </a:p>
        </p:txBody>
      </p:sp>
      <p:sp>
        <p:nvSpPr>
          <p:cNvPr id="17" name="Text 13"/>
          <p:cNvSpPr/>
          <p:nvPr/>
        </p:nvSpPr>
        <p:spPr>
          <a:xfrm>
            <a:off x="2985641" y="1768469"/>
            <a:ext cx="1103375" cy="271463"/>
          </a:xfrm>
          <a:prstGeom prst="rect">
            <a:avLst/>
          </a:prstGeom>
          <a:noFill/>
          <a:ln/>
        </p:spPr>
        <p:txBody>
          <a:bodyPr wrap="none" lIns="127508" tIns="127508" rIns="8509" bIns="8509" rtlCol="0" anchor="ctr">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98.5%</a:t>
            </a:r>
            <a:endParaRPr lang="en-US" sz="950" dirty="0"/>
          </a:p>
        </p:txBody>
      </p:sp>
      <p:sp>
        <p:nvSpPr>
          <p:cNvPr id="18" name="Shape 14"/>
          <p:cNvSpPr/>
          <p:nvPr/>
        </p:nvSpPr>
        <p:spPr>
          <a:xfrm>
            <a:off x="4089016" y="1768469"/>
            <a:ext cx="935887" cy="271463"/>
          </a:xfrm>
          <a:prstGeom prst="rect">
            <a:avLst/>
          </a:prstGeom>
          <a:solidFill>
            <a:srgbClr val="FFF9DB"/>
          </a:solidFill>
          <a:ln w="9144">
            <a:solidFill>
              <a:srgbClr val="D1D9E6"/>
            </a:solidFill>
            <a:prstDash val="solid"/>
          </a:ln>
        </p:spPr>
      </p:sp>
      <p:sp>
        <p:nvSpPr>
          <p:cNvPr id="19" name="Text 15"/>
          <p:cNvSpPr/>
          <p:nvPr/>
        </p:nvSpPr>
        <p:spPr>
          <a:xfrm>
            <a:off x="4089016" y="1768469"/>
            <a:ext cx="935887" cy="271463"/>
          </a:xfrm>
          <a:prstGeom prst="rect">
            <a:avLst/>
          </a:prstGeom>
          <a:noFill/>
          <a:ln/>
        </p:spPr>
        <p:txBody>
          <a:bodyPr wrap="none" lIns="127508" tIns="127508" rIns="8509" bIns="8509" rtlCol="0" anchor="ctr">
            <a:spAutoFit/>
          </a:bodyPr>
          <a:lstStyle/>
          <a:p>
            <a:pPr algn="l" indent="0" marL="0">
              <a:buNone/>
            </a:pPr>
            <a:r>
              <a:rPr lang="en-US" sz="900" b="1" dirty="0">
                <a:solidFill>
                  <a:srgbClr val="002244"/>
                </a:solidFill>
                <a:latin typeface="Segoe UI" pitchFamily="34" charset="0"/>
                <a:ea typeface="Segoe UI" pitchFamily="34" charset="-122"/>
                <a:cs typeface="Segoe UI" pitchFamily="34" charset="-120"/>
              </a:rPr>
              <a:t>+3.3%</a:t>
            </a:r>
            <a:endParaRPr lang="en-US" sz="900" dirty="0"/>
          </a:p>
        </p:txBody>
      </p:sp>
      <p:sp>
        <p:nvSpPr>
          <p:cNvPr id="20" name="Text 16"/>
          <p:cNvSpPr/>
          <p:nvPr/>
        </p:nvSpPr>
        <p:spPr>
          <a:xfrm>
            <a:off x="639366" y="2039931"/>
            <a:ext cx="1242901" cy="271463"/>
          </a:xfrm>
          <a:prstGeom prst="rect">
            <a:avLst/>
          </a:prstGeom>
          <a:noFill/>
          <a:ln/>
        </p:spPr>
        <p:txBody>
          <a:bodyPr wrap="none" lIns="127508" tIns="127508" rIns="8509" bIns="8509" rtlCol="0" anchor="ctr">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Precision</a:t>
            </a:r>
            <a:endParaRPr lang="en-US" sz="950" dirty="0"/>
          </a:p>
        </p:txBody>
      </p:sp>
      <p:sp>
        <p:nvSpPr>
          <p:cNvPr id="21" name="Text 17"/>
          <p:cNvSpPr/>
          <p:nvPr/>
        </p:nvSpPr>
        <p:spPr>
          <a:xfrm>
            <a:off x="1882267" y="2039931"/>
            <a:ext cx="1103375" cy="271463"/>
          </a:xfrm>
          <a:prstGeom prst="rect">
            <a:avLst/>
          </a:prstGeom>
          <a:noFill/>
          <a:ln/>
        </p:spPr>
        <p:txBody>
          <a:bodyPr wrap="none" lIns="127508" tIns="127508" rIns="8509" bIns="8509" rtlCol="0" anchor="ctr">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91.0%</a:t>
            </a:r>
            <a:endParaRPr lang="en-US" sz="950" dirty="0"/>
          </a:p>
        </p:txBody>
      </p:sp>
      <p:sp>
        <p:nvSpPr>
          <p:cNvPr id="22" name="Text 18"/>
          <p:cNvSpPr/>
          <p:nvPr/>
        </p:nvSpPr>
        <p:spPr>
          <a:xfrm>
            <a:off x="2985641" y="2039931"/>
            <a:ext cx="1103375" cy="271463"/>
          </a:xfrm>
          <a:prstGeom prst="rect">
            <a:avLst/>
          </a:prstGeom>
          <a:noFill/>
          <a:ln/>
        </p:spPr>
        <p:txBody>
          <a:bodyPr wrap="none" lIns="127508" tIns="127508" rIns="8509" bIns="8509" rtlCol="0" anchor="ctr">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97.2%</a:t>
            </a:r>
            <a:endParaRPr lang="en-US" sz="950" dirty="0"/>
          </a:p>
        </p:txBody>
      </p:sp>
      <p:sp>
        <p:nvSpPr>
          <p:cNvPr id="23" name="Shape 19"/>
          <p:cNvSpPr/>
          <p:nvPr/>
        </p:nvSpPr>
        <p:spPr>
          <a:xfrm>
            <a:off x="4089016" y="2039931"/>
            <a:ext cx="935887" cy="271463"/>
          </a:xfrm>
          <a:prstGeom prst="rect">
            <a:avLst/>
          </a:prstGeom>
          <a:solidFill>
            <a:srgbClr val="FFF9DB"/>
          </a:solidFill>
          <a:ln w="9144">
            <a:solidFill>
              <a:srgbClr val="D1D9E6"/>
            </a:solidFill>
            <a:prstDash val="solid"/>
          </a:ln>
        </p:spPr>
      </p:sp>
      <p:sp>
        <p:nvSpPr>
          <p:cNvPr id="24" name="Text 20"/>
          <p:cNvSpPr/>
          <p:nvPr/>
        </p:nvSpPr>
        <p:spPr>
          <a:xfrm>
            <a:off x="4089016" y="2039931"/>
            <a:ext cx="935887" cy="271463"/>
          </a:xfrm>
          <a:prstGeom prst="rect">
            <a:avLst/>
          </a:prstGeom>
          <a:noFill/>
          <a:ln/>
        </p:spPr>
        <p:txBody>
          <a:bodyPr wrap="none" lIns="127508" tIns="127508" rIns="8509" bIns="8509" rtlCol="0" anchor="ctr">
            <a:spAutoFit/>
          </a:bodyPr>
          <a:lstStyle/>
          <a:p>
            <a:pPr algn="l" indent="0" marL="0">
              <a:buNone/>
            </a:pPr>
            <a:r>
              <a:rPr lang="en-US" sz="900" b="1" dirty="0">
                <a:solidFill>
                  <a:srgbClr val="002244"/>
                </a:solidFill>
                <a:latin typeface="Segoe UI" pitchFamily="34" charset="0"/>
                <a:ea typeface="Segoe UI" pitchFamily="34" charset="-122"/>
                <a:cs typeface="Segoe UI" pitchFamily="34" charset="-120"/>
              </a:rPr>
              <a:t>+6.2%</a:t>
            </a:r>
            <a:endParaRPr lang="en-US" sz="900" dirty="0"/>
          </a:p>
        </p:txBody>
      </p:sp>
      <p:sp>
        <p:nvSpPr>
          <p:cNvPr id="25" name="Text 21"/>
          <p:cNvSpPr/>
          <p:nvPr/>
        </p:nvSpPr>
        <p:spPr>
          <a:xfrm>
            <a:off x="639366" y="2311394"/>
            <a:ext cx="1242901" cy="271463"/>
          </a:xfrm>
          <a:prstGeom prst="rect">
            <a:avLst/>
          </a:prstGeom>
          <a:noFill/>
          <a:ln/>
        </p:spPr>
        <p:txBody>
          <a:bodyPr wrap="none" lIns="127508" tIns="127508" rIns="8509" bIns="8509" rtlCol="0" anchor="ctr">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Recall</a:t>
            </a:r>
            <a:endParaRPr lang="en-US" sz="950" dirty="0"/>
          </a:p>
        </p:txBody>
      </p:sp>
      <p:sp>
        <p:nvSpPr>
          <p:cNvPr id="26" name="Text 22"/>
          <p:cNvSpPr/>
          <p:nvPr/>
        </p:nvSpPr>
        <p:spPr>
          <a:xfrm>
            <a:off x="1882267" y="2311394"/>
            <a:ext cx="1103375" cy="271463"/>
          </a:xfrm>
          <a:prstGeom prst="rect">
            <a:avLst/>
          </a:prstGeom>
          <a:noFill/>
          <a:ln/>
        </p:spPr>
        <p:txBody>
          <a:bodyPr wrap="none" lIns="127508" tIns="127508" rIns="8509" bIns="8509" rtlCol="0" anchor="ctr">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88.5%</a:t>
            </a:r>
            <a:endParaRPr lang="en-US" sz="950" dirty="0"/>
          </a:p>
        </p:txBody>
      </p:sp>
      <p:sp>
        <p:nvSpPr>
          <p:cNvPr id="27" name="Text 23"/>
          <p:cNvSpPr/>
          <p:nvPr/>
        </p:nvSpPr>
        <p:spPr>
          <a:xfrm>
            <a:off x="2985641" y="2311394"/>
            <a:ext cx="1103375" cy="271463"/>
          </a:xfrm>
          <a:prstGeom prst="rect">
            <a:avLst/>
          </a:prstGeom>
          <a:noFill/>
          <a:ln/>
        </p:spPr>
        <p:txBody>
          <a:bodyPr wrap="none" lIns="127508" tIns="127508" rIns="8509" bIns="8509" rtlCol="0" anchor="ctr">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94.8%</a:t>
            </a:r>
            <a:endParaRPr lang="en-US" sz="950" dirty="0"/>
          </a:p>
        </p:txBody>
      </p:sp>
      <p:sp>
        <p:nvSpPr>
          <p:cNvPr id="28" name="Shape 24"/>
          <p:cNvSpPr/>
          <p:nvPr/>
        </p:nvSpPr>
        <p:spPr>
          <a:xfrm>
            <a:off x="4089016" y="2311394"/>
            <a:ext cx="935887" cy="271463"/>
          </a:xfrm>
          <a:prstGeom prst="rect">
            <a:avLst/>
          </a:prstGeom>
          <a:solidFill>
            <a:srgbClr val="FFF9DB"/>
          </a:solidFill>
          <a:ln w="9144">
            <a:solidFill>
              <a:srgbClr val="D1D9E6"/>
            </a:solidFill>
            <a:prstDash val="solid"/>
          </a:ln>
        </p:spPr>
      </p:sp>
      <p:sp>
        <p:nvSpPr>
          <p:cNvPr id="29" name="Text 25"/>
          <p:cNvSpPr/>
          <p:nvPr/>
        </p:nvSpPr>
        <p:spPr>
          <a:xfrm>
            <a:off x="4089016" y="2311394"/>
            <a:ext cx="935887" cy="271463"/>
          </a:xfrm>
          <a:prstGeom prst="rect">
            <a:avLst/>
          </a:prstGeom>
          <a:noFill/>
          <a:ln/>
        </p:spPr>
        <p:txBody>
          <a:bodyPr wrap="none" lIns="127508" tIns="127508" rIns="8509" bIns="8509" rtlCol="0" anchor="ctr">
            <a:spAutoFit/>
          </a:bodyPr>
          <a:lstStyle/>
          <a:p>
            <a:pPr algn="l" indent="0" marL="0">
              <a:buNone/>
            </a:pPr>
            <a:r>
              <a:rPr lang="en-US" sz="900" b="1" dirty="0">
                <a:solidFill>
                  <a:srgbClr val="002244"/>
                </a:solidFill>
                <a:latin typeface="Segoe UI" pitchFamily="34" charset="0"/>
                <a:ea typeface="Segoe UI" pitchFamily="34" charset="-122"/>
                <a:cs typeface="Segoe UI" pitchFamily="34" charset="-120"/>
              </a:rPr>
              <a:t>+6.3%</a:t>
            </a:r>
            <a:endParaRPr lang="en-US" sz="900" dirty="0"/>
          </a:p>
        </p:txBody>
      </p:sp>
      <p:sp>
        <p:nvSpPr>
          <p:cNvPr id="30" name="Text 26"/>
          <p:cNvSpPr/>
          <p:nvPr/>
        </p:nvSpPr>
        <p:spPr>
          <a:xfrm>
            <a:off x="639366" y="2582856"/>
            <a:ext cx="1242901" cy="271463"/>
          </a:xfrm>
          <a:prstGeom prst="rect">
            <a:avLst/>
          </a:prstGeom>
          <a:noFill/>
          <a:ln/>
        </p:spPr>
        <p:txBody>
          <a:bodyPr wrap="none" lIns="127508" tIns="127508" rIns="8509" bIns="8509" rtlCol="0" anchor="ctr">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F1 Score</a:t>
            </a:r>
            <a:endParaRPr lang="en-US" sz="950" dirty="0"/>
          </a:p>
        </p:txBody>
      </p:sp>
      <p:sp>
        <p:nvSpPr>
          <p:cNvPr id="31" name="Text 27"/>
          <p:cNvSpPr/>
          <p:nvPr/>
        </p:nvSpPr>
        <p:spPr>
          <a:xfrm>
            <a:off x="1882267" y="2582856"/>
            <a:ext cx="1103375" cy="271463"/>
          </a:xfrm>
          <a:prstGeom prst="rect">
            <a:avLst/>
          </a:prstGeom>
          <a:noFill/>
          <a:ln/>
        </p:spPr>
        <p:txBody>
          <a:bodyPr wrap="none" lIns="127508" tIns="127508" rIns="8509" bIns="8509" rtlCol="0" anchor="ctr">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89.7%</a:t>
            </a:r>
            <a:endParaRPr lang="en-US" sz="950" dirty="0"/>
          </a:p>
        </p:txBody>
      </p:sp>
      <p:sp>
        <p:nvSpPr>
          <p:cNvPr id="32" name="Text 28"/>
          <p:cNvSpPr/>
          <p:nvPr/>
        </p:nvSpPr>
        <p:spPr>
          <a:xfrm>
            <a:off x="2985641" y="2582856"/>
            <a:ext cx="1103375" cy="271463"/>
          </a:xfrm>
          <a:prstGeom prst="rect">
            <a:avLst/>
          </a:prstGeom>
          <a:noFill/>
          <a:ln/>
        </p:spPr>
        <p:txBody>
          <a:bodyPr wrap="none" lIns="127508" tIns="127508" rIns="8509" bIns="8509" rtlCol="0" anchor="ctr">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96.0%</a:t>
            </a:r>
            <a:endParaRPr lang="en-US" sz="950" dirty="0"/>
          </a:p>
        </p:txBody>
      </p:sp>
      <p:sp>
        <p:nvSpPr>
          <p:cNvPr id="33" name="Shape 29"/>
          <p:cNvSpPr/>
          <p:nvPr/>
        </p:nvSpPr>
        <p:spPr>
          <a:xfrm>
            <a:off x="4089016" y="2582856"/>
            <a:ext cx="935887" cy="271463"/>
          </a:xfrm>
          <a:prstGeom prst="rect">
            <a:avLst/>
          </a:prstGeom>
          <a:solidFill>
            <a:srgbClr val="FFF9DB"/>
          </a:solidFill>
          <a:ln w="9144">
            <a:solidFill>
              <a:srgbClr val="D1D9E6"/>
            </a:solidFill>
            <a:prstDash val="solid"/>
          </a:ln>
        </p:spPr>
      </p:sp>
      <p:sp>
        <p:nvSpPr>
          <p:cNvPr id="34" name="Text 30"/>
          <p:cNvSpPr/>
          <p:nvPr/>
        </p:nvSpPr>
        <p:spPr>
          <a:xfrm>
            <a:off x="4089016" y="2582856"/>
            <a:ext cx="935887" cy="271463"/>
          </a:xfrm>
          <a:prstGeom prst="rect">
            <a:avLst/>
          </a:prstGeom>
          <a:noFill/>
          <a:ln/>
        </p:spPr>
        <p:txBody>
          <a:bodyPr wrap="none" lIns="127508" tIns="127508" rIns="8509" bIns="8509" rtlCol="0" anchor="ctr">
            <a:spAutoFit/>
          </a:bodyPr>
          <a:lstStyle/>
          <a:p>
            <a:pPr algn="l" indent="0" marL="0">
              <a:buNone/>
            </a:pPr>
            <a:r>
              <a:rPr lang="en-US" sz="900" b="1" dirty="0">
                <a:solidFill>
                  <a:srgbClr val="002244"/>
                </a:solidFill>
                <a:latin typeface="Segoe UI" pitchFamily="34" charset="0"/>
                <a:ea typeface="Segoe UI" pitchFamily="34" charset="-122"/>
                <a:cs typeface="Segoe UI" pitchFamily="34" charset="-120"/>
              </a:rPr>
              <a:t>+6.3%</a:t>
            </a:r>
            <a:endParaRPr lang="en-US" sz="900" dirty="0"/>
          </a:p>
        </p:txBody>
      </p:sp>
      <p:sp>
        <p:nvSpPr>
          <p:cNvPr id="35" name="Shape 31"/>
          <p:cNvSpPr/>
          <p:nvPr/>
        </p:nvSpPr>
        <p:spPr>
          <a:xfrm>
            <a:off x="635794" y="3072203"/>
            <a:ext cx="4392681" cy="545716"/>
          </a:xfrm>
          <a:prstGeom prst="rect">
            <a:avLst/>
          </a:prstGeom>
          <a:solidFill>
            <a:srgbClr val="FFFFFF"/>
          </a:solidFill>
          <a:ln w="18288">
            <a:solidFill>
              <a:srgbClr val="FFD700"/>
            </a:solidFill>
            <a:prstDash val="solid"/>
          </a:ln>
        </p:spPr>
      </p:sp>
      <p:sp>
        <p:nvSpPr>
          <p:cNvPr id="36" name="Text 32"/>
          <p:cNvSpPr/>
          <p:nvPr/>
        </p:nvSpPr>
        <p:spPr>
          <a:xfrm>
            <a:off x="921544" y="3229366"/>
            <a:ext cx="735862" cy="146447"/>
          </a:xfrm>
          <a:prstGeom prst="rect">
            <a:avLst/>
          </a:prstGeom>
          <a:noFill/>
          <a:ln/>
        </p:spPr>
        <p:txBody>
          <a:bodyPr wrap="none" lIns="0" tIns="0" rIns="0" bIns="0" rtlCol="0" anchor="t">
            <a:spAutoFit/>
          </a:bodyPr>
          <a:lstStyle/>
          <a:p>
            <a:pPr algn="l" indent="0" marL="0">
              <a:lnSpc>
                <a:spcPct val="112000"/>
              </a:lnSpc>
              <a:buNone/>
            </a:pPr>
            <a:r>
              <a:rPr lang="en-US" sz="900" b="1" dirty="0">
                <a:solidFill>
                  <a:srgbClr val="333333"/>
                </a:solidFill>
                <a:latin typeface="Segoe UI" pitchFamily="34" charset="0"/>
                <a:ea typeface="Segoe UI" pitchFamily="34" charset="-122"/>
                <a:cs typeface="Segoe UI" pitchFamily="34" charset="-120"/>
              </a:rPr>
              <a:t>Key Insight:</a:t>
            </a:r>
            <a:endParaRPr lang="en-US" sz="900" dirty="0"/>
          </a:p>
        </p:txBody>
      </p:sp>
      <p:sp>
        <p:nvSpPr>
          <p:cNvPr id="37" name="Text 33"/>
          <p:cNvSpPr/>
          <p:nvPr/>
        </p:nvSpPr>
        <p:spPr>
          <a:xfrm>
            <a:off x="1657406" y="3229366"/>
            <a:ext cx="2887359" cy="14644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Segoe UI" pitchFamily="34" charset="0"/>
                <a:ea typeface="Segoe UI" pitchFamily="34" charset="-122"/>
                <a:cs typeface="Segoe UI" pitchFamily="34" charset="-120"/>
              </a:rPr>
              <a:t>Optimization significantly reduced False Positives,</a:t>
            </a:r>
            <a:endParaRPr lang="en-US" sz="950" dirty="0"/>
          </a:p>
        </p:txBody>
      </p:sp>
      <p:sp>
        <p:nvSpPr>
          <p:cNvPr id="38" name="Text 34"/>
          <p:cNvSpPr/>
          <p:nvPr/>
        </p:nvSpPr>
        <p:spPr>
          <a:xfrm>
            <a:off x="778669" y="3409355"/>
            <a:ext cx="3330048" cy="14644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Segoe UI" pitchFamily="34" charset="0"/>
                <a:ea typeface="Segoe UI" pitchFamily="34" charset="-122"/>
                <a:cs typeface="Segoe UI" pitchFamily="34" charset="-120"/>
              </a:rPr>
              <a:t>which is critical for maintaining user trust in email systems.</a:t>
            </a:r>
            <a:endParaRPr lang="en-US" sz="950" dirty="0"/>
          </a:p>
        </p:txBody>
      </p:sp>
      <p:sp>
        <p:nvSpPr>
          <p:cNvPr id="39" name="Shape 35"/>
          <p:cNvSpPr/>
          <p:nvPr/>
        </p:nvSpPr>
        <p:spPr>
          <a:xfrm>
            <a:off x="5028474" y="492919"/>
            <a:ext cx="3594032" cy="3043238"/>
          </a:xfrm>
          <a:prstGeom prst="rect">
            <a:avLst/>
          </a:prstGeom>
          <a:solidFill>
            <a:srgbClr val="FFFFFF"/>
          </a:solidFill>
          <a:ln w="18288">
            <a:solidFill>
              <a:srgbClr val="002244"/>
            </a:solidFill>
            <a:prstDash val="solid"/>
          </a:ln>
        </p:spPr>
      </p:sp>
      <p:pic>
        <p:nvPicPr>
          <p:cNvPr id="40" name="Image 1" descr="preencoded.png">    </p:cNvPr>
          <p:cNvPicPr>
            <a:picLocks noChangeAspect="1"/>
          </p:cNvPicPr>
          <p:nvPr/>
        </p:nvPicPr>
        <p:blipFill>
          <a:blip r:embed="rId2"/>
          <a:stretch>
            <a:fillRect/>
          </a:stretch>
        </p:blipFill>
        <p:spPr>
          <a:xfrm>
            <a:off x="5171349" y="635794"/>
            <a:ext cx="3264694" cy="2857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7144"/>
            <a:ext cx="9144000" cy="5143500"/>
          </a:xfrm>
          <a:prstGeom prst="rect">
            <a:avLst/>
          </a:prstGeom>
        </p:spPr>
      </p:pic>
      <p:sp>
        <p:nvSpPr>
          <p:cNvPr id="4" name="Text 0"/>
          <p:cNvSpPr/>
          <p:nvPr/>
        </p:nvSpPr>
        <p:spPr>
          <a:xfrm>
            <a:off x="350044" y="642045"/>
            <a:ext cx="8443913" cy="292894"/>
          </a:xfrm>
          <a:prstGeom prst="rect">
            <a:avLst/>
          </a:prstGeom>
          <a:noFill/>
          <a:ln/>
        </p:spPr>
        <p:txBody>
          <a:bodyPr wrap="square" lIns="0" tIns="0" rIns="0" bIns="0" rtlCol="0" anchor="t">
            <a:spAutoFit/>
          </a:bodyPr>
          <a:lstStyle/>
          <a:p>
            <a:pPr algn="l" indent="0" marL="0">
              <a:buNone/>
            </a:pPr>
            <a:r>
              <a:rPr lang="en-US" sz="1800" b="1" spc="2" kern="0" dirty="0">
                <a:solidFill>
                  <a:srgbClr val="002244"/>
                </a:solidFill>
                <a:latin typeface="Courier New" pitchFamily="34" charset="0"/>
                <a:ea typeface="Courier New" pitchFamily="34" charset="-122"/>
                <a:cs typeface="Courier New" pitchFamily="34" charset="-120"/>
              </a:rPr>
              <a:t>DEPLOYMENT ARCHITECTURE</a:t>
            </a:r>
            <a:endParaRPr lang="en-US" sz="1800" dirty="0"/>
          </a:p>
        </p:txBody>
      </p:sp>
      <p:sp>
        <p:nvSpPr>
          <p:cNvPr id="5" name="Text 1"/>
          <p:cNvSpPr/>
          <p:nvPr/>
        </p:nvSpPr>
        <p:spPr>
          <a:xfrm>
            <a:off x="350044" y="1077813"/>
            <a:ext cx="8443913" cy="160734"/>
          </a:xfrm>
          <a:prstGeom prst="rect">
            <a:avLst/>
          </a:prstGeom>
          <a:noFill/>
          <a:ln/>
        </p:spPr>
        <p:txBody>
          <a:bodyPr wrap="square" lIns="0" tIns="0" rIns="0" bIns="0" rtlCol="0" anchor="t">
            <a:spAutoFit/>
          </a:bodyPr>
          <a:lstStyle/>
          <a:p>
            <a:pPr algn="l" indent="0" marL="0">
              <a:buNone/>
            </a:pPr>
            <a:r>
              <a:rPr lang="en-US" sz="1050" dirty="0">
                <a:solidFill>
                  <a:srgbClr val="666666"/>
                </a:solidFill>
                <a:latin typeface="Segoe UI" pitchFamily="34" charset="0"/>
                <a:ea typeface="Segoe UI" pitchFamily="34" charset="-122"/>
                <a:cs typeface="Segoe UI" pitchFamily="34" charset="-120"/>
              </a:rPr>
              <a:t>Scalable Cloud-Ready Infrastructure for AI Inference</a:t>
            </a:r>
            <a:endParaRPr lang="en-US" sz="1050" dirty="0"/>
          </a:p>
        </p:txBody>
      </p:sp>
      <p:sp>
        <p:nvSpPr>
          <p:cNvPr id="6" name="Shape 2"/>
          <p:cNvSpPr/>
          <p:nvPr/>
        </p:nvSpPr>
        <p:spPr>
          <a:xfrm>
            <a:off x="609005" y="1367135"/>
            <a:ext cx="2286000" cy="603647"/>
          </a:xfrm>
          <a:prstGeom prst="rect">
            <a:avLst/>
          </a:prstGeom>
          <a:solidFill>
            <a:srgbClr val="FFFFFF"/>
          </a:solidFill>
          <a:ln w="18288">
            <a:solidFill>
              <a:srgbClr val="002244"/>
            </a:solidFill>
            <a:prstDash val="solid"/>
          </a:ln>
        </p:spPr>
      </p:sp>
      <p:pic>
        <p:nvPicPr>
          <p:cNvPr id="7" name="Image 1" descr="preencoded.png">    </p:cNvPr>
          <p:cNvPicPr>
            <a:picLocks noChangeAspect="1"/>
          </p:cNvPicPr>
          <p:nvPr/>
        </p:nvPicPr>
        <p:blipFill>
          <a:blip r:embed="rId2"/>
          <a:stretch>
            <a:fillRect/>
          </a:stretch>
        </p:blipFill>
        <p:spPr>
          <a:xfrm>
            <a:off x="1676995" y="1431429"/>
            <a:ext cx="150019" cy="171450"/>
          </a:xfrm>
          <a:prstGeom prst="rect">
            <a:avLst/>
          </a:prstGeom>
        </p:spPr>
      </p:pic>
      <p:sp>
        <p:nvSpPr>
          <p:cNvPr id="8" name="Text 3"/>
          <p:cNvSpPr/>
          <p:nvPr/>
        </p:nvSpPr>
        <p:spPr>
          <a:xfrm>
            <a:off x="1477640" y="1645741"/>
            <a:ext cx="548729" cy="132159"/>
          </a:xfrm>
          <a:prstGeom prst="rect">
            <a:avLst/>
          </a:prstGeom>
          <a:noFill/>
          <a:ln/>
        </p:spPr>
        <p:txBody>
          <a:bodyPr wrap="none" lIns="0" tIns="0" rIns="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END USER</a:t>
            </a:r>
            <a:endParaRPr lang="en-US" sz="800" dirty="0"/>
          </a:p>
        </p:txBody>
      </p:sp>
      <p:sp>
        <p:nvSpPr>
          <p:cNvPr id="9" name="Text 4"/>
          <p:cNvSpPr/>
          <p:nvPr/>
        </p:nvSpPr>
        <p:spPr>
          <a:xfrm>
            <a:off x="1408937" y="1806476"/>
            <a:ext cx="686079" cy="100013"/>
          </a:xfrm>
          <a:prstGeom prst="rect">
            <a:avLst/>
          </a:prstGeom>
          <a:noFill/>
          <a:ln/>
        </p:spPr>
        <p:txBody>
          <a:bodyPr wrap="none" lIns="0" tIns="0" rIns="0" bIns="0" rtlCol="0" anchor="t">
            <a:spAutoFit/>
          </a:bodyPr>
          <a:lstStyle/>
          <a:p>
            <a:pPr algn="ctr" indent="0" marL="0">
              <a:buNone/>
            </a:pPr>
            <a:r>
              <a:rPr lang="en-US" sz="600" dirty="0">
                <a:solidFill>
                  <a:srgbClr val="666666"/>
                </a:solidFill>
                <a:latin typeface="Segoe UI" pitchFamily="34" charset="0"/>
                <a:ea typeface="Segoe UI" pitchFamily="34" charset="-122"/>
                <a:cs typeface="Segoe UI" pitchFamily="34" charset="-120"/>
              </a:rPr>
              <a:t>Email / SMS Input</a:t>
            </a:r>
            <a:endParaRPr lang="en-US" sz="600" dirty="0"/>
          </a:p>
        </p:txBody>
      </p:sp>
      <p:pic>
        <p:nvPicPr>
          <p:cNvPr id="10" name="Image 2" descr="preencoded.png">    </p:cNvPr>
          <p:cNvPicPr>
            <a:picLocks noChangeAspect="1"/>
          </p:cNvPicPr>
          <p:nvPr/>
        </p:nvPicPr>
        <p:blipFill>
          <a:blip r:embed="rId3"/>
          <a:stretch>
            <a:fillRect/>
          </a:stretch>
        </p:blipFill>
        <p:spPr>
          <a:xfrm>
            <a:off x="3095030" y="1597521"/>
            <a:ext cx="125016" cy="142875"/>
          </a:xfrm>
          <a:prstGeom prst="rect">
            <a:avLst/>
          </a:prstGeom>
        </p:spPr>
      </p:pic>
      <p:sp>
        <p:nvSpPr>
          <p:cNvPr id="11" name="Shape 5"/>
          <p:cNvSpPr/>
          <p:nvPr/>
        </p:nvSpPr>
        <p:spPr>
          <a:xfrm>
            <a:off x="3420070" y="1367135"/>
            <a:ext cx="2286000" cy="603647"/>
          </a:xfrm>
          <a:prstGeom prst="rect">
            <a:avLst/>
          </a:prstGeom>
          <a:solidFill>
            <a:srgbClr val="FFFFFF"/>
          </a:solidFill>
          <a:ln w="18288">
            <a:solidFill>
              <a:srgbClr val="002244"/>
            </a:solidFill>
            <a:prstDash val="solid"/>
          </a:ln>
        </p:spPr>
      </p:sp>
      <p:pic>
        <p:nvPicPr>
          <p:cNvPr id="12" name="Image 3" descr="preencoded.png">    </p:cNvPr>
          <p:cNvPicPr>
            <a:picLocks noChangeAspect="1"/>
          </p:cNvPicPr>
          <p:nvPr/>
        </p:nvPicPr>
        <p:blipFill>
          <a:blip r:embed="rId4"/>
          <a:stretch>
            <a:fillRect/>
          </a:stretch>
        </p:blipFill>
        <p:spPr>
          <a:xfrm>
            <a:off x="4477345" y="1431429"/>
            <a:ext cx="171450" cy="171450"/>
          </a:xfrm>
          <a:prstGeom prst="rect">
            <a:avLst/>
          </a:prstGeom>
        </p:spPr>
      </p:pic>
      <p:sp>
        <p:nvSpPr>
          <p:cNvPr id="13" name="Text 6"/>
          <p:cNvSpPr/>
          <p:nvPr/>
        </p:nvSpPr>
        <p:spPr>
          <a:xfrm>
            <a:off x="4014341" y="1645741"/>
            <a:ext cx="1097459" cy="132159"/>
          </a:xfrm>
          <a:prstGeom prst="rect">
            <a:avLst/>
          </a:prstGeom>
          <a:noFill/>
          <a:ln/>
        </p:spPr>
        <p:txBody>
          <a:bodyPr wrap="none" lIns="0" tIns="0" rIns="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STREAMLIT WEB UI</a:t>
            </a:r>
            <a:endParaRPr lang="en-US" sz="800" dirty="0"/>
          </a:p>
        </p:txBody>
      </p:sp>
      <p:sp>
        <p:nvSpPr>
          <p:cNvPr id="14" name="Text 7"/>
          <p:cNvSpPr/>
          <p:nvPr/>
        </p:nvSpPr>
        <p:spPr>
          <a:xfrm>
            <a:off x="4020536" y="1806476"/>
            <a:ext cx="1085013" cy="100013"/>
          </a:xfrm>
          <a:prstGeom prst="rect">
            <a:avLst/>
          </a:prstGeom>
          <a:noFill/>
          <a:ln/>
        </p:spPr>
        <p:txBody>
          <a:bodyPr wrap="none" lIns="0" tIns="0" rIns="0" bIns="0" rtlCol="0" anchor="t">
            <a:spAutoFit/>
          </a:bodyPr>
          <a:lstStyle/>
          <a:p>
            <a:pPr algn="ctr" indent="0" marL="0">
              <a:buNone/>
            </a:pPr>
            <a:r>
              <a:rPr lang="en-US" sz="600" dirty="0">
                <a:solidFill>
                  <a:srgbClr val="666666"/>
                </a:solidFill>
                <a:latin typeface="Segoe UI" pitchFamily="34" charset="0"/>
                <a:ea typeface="Segoe UI" pitchFamily="34" charset="-122"/>
                <a:cs typeface="Segoe UI" pitchFamily="34" charset="-120"/>
              </a:rPr>
              <a:t>Input Validation &amp; Rendering</a:t>
            </a:r>
            <a:endParaRPr lang="en-US" sz="600" dirty="0"/>
          </a:p>
        </p:txBody>
      </p:sp>
      <p:sp>
        <p:nvSpPr>
          <p:cNvPr id="15" name="Shape 8"/>
          <p:cNvSpPr/>
          <p:nvPr/>
        </p:nvSpPr>
        <p:spPr>
          <a:xfrm>
            <a:off x="5963245" y="1367135"/>
            <a:ext cx="2286000" cy="603647"/>
          </a:xfrm>
          <a:prstGeom prst="rect">
            <a:avLst/>
          </a:prstGeom>
          <a:solidFill>
            <a:srgbClr val="FFFFFF"/>
          </a:solidFill>
          <a:ln w="18288">
            <a:solidFill>
              <a:srgbClr val="002244"/>
            </a:solidFill>
            <a:prstDash val="solid"/>
          </a:ln>
        </p:spPr>
      </p:sp>
      <p:pic>
        <p:nvPicPr>
          <p:cNvPr id="16" name="Image 4" descr="preencoded.png">    </p:cNvPr>
          <p:cNvPicPr>
            <a:picLocks noChangeAspect="1"/>
          </p:cNvPicPr>
          <p:nvPr/>
        </p:nvPicPr>
        <p:blipFill>
          <a:blip r:embed="rId5"/>
          <a:stretch>
            <a:fillRect/>
          </a:stretch>
        </p:blipFill>
        <p:spPr>
          <a:xfrm>
            <a:off x="6999089" y="1429643"/>
            <a:ext cx="214313" cy="171450"/>
          </a:xfrm>
          <a:prstGeom prst="rect">
            <a:avLst/>
          </a:prstGeom>
        </p:spPr>
      </p:pic>
      <p:sp>
        <p:nvSpPr>
          <p:cNvPr id="17" name="Text 9"/>
          <p:cNvSpPr/>
          <p:nvPr/>
        </p:nvSpPr>
        <p:spPr>
          <a:xfrm>
            <a:off x="6523193" y="1643955"/>
            <a:ext cx="1166050" cy="132159"/>
          </a:xfrm>
          <a:prstGeom prst="rect">
            <a:avLst/>
          </a:prstGeom>
          <a:noFill/>
          <a:ln/>
        </p:spPr>
        <p:txBody>
          <a:bodyPr wrap="none" lIns="0" tIns="0" rIns="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PREDICTION ENGINE</a:t>
            </a:r>
            <a:endParaRPr lang="en-US" sz="800" dirty="0"/>
          </a:p>
        </p:txBody>
      </p:sp>
      <p:sp>
        <p:nvSpPr>
          <p:cNvPr id="18" name="Text 10"/>
          <p:cNvSpPr/>
          <p:nvPr/>
        </p:nvSpPr>
        <p:spPr>
          <a:xfrm>
            <a:off x="6679685" y="1804690"/>
            <a:ext cx="853064" cy="100013"/>
          </a:xfrm>
          <a:prstGeom prst="rect">
            <a:avLst/>
          </a:prstGeom>
          <a:noFill/>
          <a:ln/>
        </p:spPr>
        <p:txBody>
          <a:bodyPr wrap="none" lIns="0" tIns="0" rIns="0" bIns="0" rtlCol="0" anchor="t">
            <a:spAutoFit/>
          </a:bodyPr>
          <a:lstStyle/>
          <a:p>
            <a:pPr algn="ctr" indent="0" marL="0">
              <a:buNone/>
            </a:pPr>
            <a:r>
              <a:rPr lang="en-US" sz="600" dirty="0">
                <a:solidFill>
                  <a:srgbClr val="666666"/>
                </a:solidFill>
                <a:latin typeface="Segoe UI" pitchFamily="34" charset="0"/>
                <a:ea typeface="Segoe UI" pitchFamily="34" charset="-122"/>
                <a:cs typeface="Segoe UI" pitchFamily="34" charset="-120"/>
              </a:rPr>
              <a:t>Python Backend Logic</a:t>
            </a:r>
            <a:endParaRPr lang="en-US" sz="600" dirty="0"/>
          </a:p>
        </p:txBody>
      </p:sp>
      <p:pic>
        <p:nvPicPr>
          <p:cNvPr id="19" name="Image 5" descr="preencoded.png">    </p:cNvPr>
          <p:cNvPicPr>
            <a:picLocks noChangeAspect="1"/>
          </p:cNvPicPr>
          <p:nvPr/>
        </p:nvPicPr>
        <p:blipFill>
          <a:blip r:embed="rId6"/>
          <a:stretch>
            <a:fillRect/>
          </a:stretch>
        </p:blipFill>
        <p:spPr>
          <a:xfrm>
            <a:off x="8449270" y="1595735"/>
            <a:ext cx="142875" cy="142875"/>
          </a:xfrm>
          <a:prstGeom prst="rect">
            <a:avLst/>
          </a:prstGeom>
        </p:spPr>
      </p:pic>
      <p:sp>
        <p:nvSpPr>
          <p:cNvPr id="20" name="Shape 11"/>
          <p:cNvSpPr/>
          <p:nvPr/>
        </p:nvSpPr>
        <p:spPr>
          <a:xfrm>
            <a:off x="3429000" y="2052935"/>
            <a:ext cx="2286000" cy="603647"/>
          </a:xfrm>
          <a:prstGeom prst="rect">
            <a:avLst/>
          </a:prstGeom>
          <a:solidFill>
            <a:srgbClr val="F8F9FA"/>
          </a:solidFill>
          <a:ln w="18288">
            <a:solidFill>
              <a:srgbClr val="002244"/>
            </a:solidFill>
            <a:prstDash val="dash"/>
          </a:ln>
        </p:spPr>
      </p:sp>
      <p:pic>
        <p:nvPicPr>
          <p:cNvPr id="21" name="Image 6" descr="preencoded.png">    </p:cNvPr>
          <p:cNvPicPr>
            <a:picLocks noChangeAspect="1"/>
          </p:cNvPicPr>
          <p:nvPr/>
        </p:nvPicPr>
        <p:blipFill>
          <a:blip r:embed="rId7"/>
          <a:stretch>
            <a:fillRect/>
          </a:stretch>
        </p:blipFill>
        <p:spPr>
          <a:xfrm>
            <a:off x="4496991" y="2115443"/>
            <a:ext cx="150019" cy="171450"/>
          </a:xfrm>
          <a:prstGeom prst="rect">
            <a:avLst/>
          </a:prstGeom>
        </p:spPr>
      </p:pic>
      <p:sp>
        <p:nvSpPr>
          <p:cNvPr id="22" name="Text 12"/>
          <p:cNvSpPr/>
          <p:nvPr/>
        </p:nvSpPr>
        <p:spPr>
          <a:xfrm>
            <a:off x="4126130" y="2329755"/>
            <a:ext cx="891685" cy="132159"/>
          </a:xfrm>
          <a:prstGeom prst="rect">
            <a:avLst/>
          </a:prstGeom>
          <a:noFill/>
          <a:ln/>
        </p:spPr>
        <p:txBody>
          <a:bodyPr wrap="none" lIns="0" tIns="0" rIns="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MODEL STORAGE</a:t>
            </a:r>
            <a:endParaRPr lang="en-US" sz="800" dirty="0"/>
          </a:p>
        </p:txBody>
      </p:sp>
      <p:sp>
        <p:nvSpPr>
          <p:cNvPr id="23" name="Text 13"/>
          <p:cNvSpPr/>
          <p:nvPr/>
        </p:nvSpPr>
        <p:spPr>
          <a:xfrm>
            <a:off x="4103470" y="2490490"/>
            <a:ext cx="937059" cy="100013"/>
          </a:xfrm>
          <a:prstGeom prst="rect">
            <a:avLst/>
          </a:prstGeom>
          <a:noFill/>
          <a:ln/>
        </p:spPr>
        <p:txBody>
          <a:bodyPr wrap="none" lIns="0" tIns="0" rIns="0" bIns="0" rtlCol="0" anchor="t">
            <a:spAutoFit/>
          </a:bodyPr>
          <a:lstStyle/>
          <a:p>
            <a:pPr algn="ctr" indent="0" marL="0">
              <a:buNone/>
            </a:pPr>
            <a:r>
              <a:rPr lang="en-US" sz="600" dirty="0">
                <a:solidFill>
                  <a:srgbClr val="666666"/>
                </a:solidFill>
                <a:latin typeface="Segoe UI" pitchFamily="34" charset="0"/>
                <a:ea typeface="Segoe UI" pitchFamily="34" charset="-122"/>
                <a:cs typeface="Segoe UI" pitchFamily="34" charset="-120"/>
              </a:rPr>
              <a:t>vectorizer.pkl | model.pkl</a:t>
            </a:r>
            <a:endParaRPr lang="en-US" sz="600" dirty="0"/>
          </a:p>
        </p:txBody>
      </p:sp>
      <p:sp>
        <p:nvSpPr>
          <p:cNvPr id="24" name="Shape 14"/>
          <p:cNvSpPr/>
          <p:nvPr/>
        </p:nvSpPr>
        <p:spPr>
          <a:xfrm>
            <a:off x="3429000" y="2738735"/>
            <a:ext cx="2286000" cy="603647"/>
          </a:xfrm>
          <a:prstGeom prst="rect">
            <a:avLst/>
          </a:prstGeom>
          <a:solidFill>
            <a:srgbClr val="FFFFFF"/>
          </a:solidFill>
          <a:ln w="18288">
            <a:solidFill>
              <a:srgbClr val="002244"/>
            </a:solidFill>
            <a:prstDash val="solid"/>
          </a:ln>
        </p:spPr>
      </p:sp>
      <p:pic>
        <p:nvPicPr>
          <p:cNvPr id="25" name="Image 7" descr="preencoded.png">    </p:cNvPr>
          <p:cNvPicPr>
            <a:picLocks noChangeAspect="1"/>
          </p:cNvPicPr>
          <p:nvPr/>
        </p:nvPicPr>
        <p:blipFill>
          <a:blip r:embed="rId8"/>
          <a:stretch>
            <a:fillRect/>
          </a:stretch>
        </p:blipFill>
        <p:spPr>
          <a:xfrm>
            <a:off x="4496991" y="2801243"/>
            <a:ext cx="150019" cy="171450"/>
          </a:xfrm>
          <a:prstGeom prst="rect">
            <a:avLst/>
          </a:prstGeom>
        </p:spPr>
      </p:pic>
      <p:sp>
        <p:nvSpPr>
          <p:cNvPr id="26" name="Text 15"/>
          <p:cNvSpPr/>
          <p:nvPr/>
        </p:nvSpPr>
        <p:spPr>
          <a:xfrm>
            <a:off x="4126130" y="3015555"/>
            <a:ext cx="891685" cy="132159"/>
          </a:xfrm>
          <a:prstGeom prst="rect">
            <a:avLst/>
          </a:prstGeom>
          <a:noFill/>
          <a:ln/>
        </p:spPr>
        <p:txBody>
          <a:bodyPr wrap="none" lIns="0" tIns="0" rIns="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RESULT ENGINE</a:t>
            </a:r>
            <a:endParaRPr lang="en-US" sz="800" dirty="0"/>
          </a:p>
        </p:txBody>
      </p:sp>
      <p:sp>
        <p:nvSpPr>
          <p:cNvPr id="27" name="Text 16"/>
          <p:cNvSpPr/>
          <p:nvPr/>
        </p:nvSpPr>
        <p:spPr>
          <a:xfrm>
            <a:off x="3944187" y="3176290"/>
            <a:ext cx="1255570" cy="100013"/>
          </a:xfrm>
          <a:prstGeom prst="rect">
            <a:avLst/>
          </a:prstGeom>
          <a:noFill/>
          <a:ln/>
        </p:spPr>
        <p:txBody>
          <a:bodyPr wrap="none" lIns="0" tIns="0" rIns="0" bIns="0" rtlCol="0" anchor="t">
            <a:spAutoFit/>
          </a:bodyPr>
          <a:lstStyle/>
          <a:p>
            <a:pPr algn="ctr" indent="0" marL="0">
              <a:buNone/>
            </a:pPr>
            <a:r>
              <a:rPr lang="en-US" sz="600" dirty="0">
                <a:solidFill>
                  <a:srgbClr val="666666"/>
                </a:solidFill>
                <a:latin typeface="Segoe UI" pitchFamily="34" charset="0"/>
                <a:ea typeface="Segoe UI" pitchFamily="34" charset="-122"/>
                <a:cs typeface="Segoe UI" pitchFamily="34" charset="-120"/>
              </a:rPr>
              <a:t>Spam / Ham + Confidence Score</a:t>
            </a:r>
            <a:endParaRPr lang="en-US" sz="600" dirty="0"/>
          </a:p>
        </p:txBody>
      </p:sp>
      <p:sp>
        <p:nvSpPr>
          <p:cNvPr id="28" name="Shape 17"/>
          <p:cNvSpPr/>
          <p:nvPr/>
        </p:nvSpPr>
        <p:spPr>
          <a:xfrm>
            <a:off x="7193756" y="2038648"/>
            <a:ext cx="1457325" cy="671513"/>
          </a:xfrm>
          <a:prstGeom prst="rect">
            <a:avLst/>
          </a:prstGeom>
          <a:solidFill>
            <a:srgbClr val="FFFFFF"/>
          </a:solidFill>
          <a:ln w="18288">
            <a:solidFill>
              <a:srgbClr val="FFD700"/>
            </a:solidFill>
            <a:prstDash val="solid"/>
          </a:ln>
        </p:spPr>
      </p:sp>
      <p:sp>
        <p:nvSpPr>
          <p:cNvPr id="29" name="Text 18"/>
          <p:cNvSpPr/>
          <p:nvPr/>
        </p:nvSpPr>
        <p:spPr>
          <a:xfrm>
            <a:off x="7293769" y="2110085"/>
            <a:ext cx="1285875" cy="114300"/>
          </a:xfrm>
          <a:prstGeom prst="rect">
            <a:avLst/>
          </a:prstGeom>
          <a:noFill/>
          <a:ln/>
        </p:spPr>
        <p:txBody>
          <a:bodyPr wrap="none" lIns="0" tIns="0" rIns="0" bIns="0" rtlCol="0" anchor="t">
            <a:spAutoFit/>
          </a:bodyPr>
          <a:lstStyle/>
          <a:p>
            <a:pPr algn="l" indent="0" marL="0">
              <a:buNone/>
            </a:pPr>
            <a:r>
              <a:rPr lang="en-US" sz="700" b="1" dirty="0">
                <a:solidFill>
                  <a:srgbClr val="333333"/>
                </a:solidFill>
                <a:latin typeface="Segoe UI" pitchFamily="34" charset="0"/>
                <a:ea typeface="Segoe UI" pitchFamily="34" charset="-122"/>
                <a:cs typeface="Segoe UI" pitchFamily="34" charset="-120"/>
              </a:rPr>
              <a:t>DESIGN PRINCIPLES</a:t>
            </a:r>
            <a:endParaRPr lang="en-US" sz="700" dirty="0"/>
          </a:p>
        </p:txBody>
      </p:sp>
      <p:sp>
        <p:nvSpPr>
          <p:cNvPr id="30" name="Text 19"/>
          <p:cNvSpPr/>
          <p:nvPr/>
        </p:nvSpPr>
        <p:spPr>
          <a:xfrm>
            <a:off x="7372350" y="2267248"/>
            <a:ext cx="622678" cy="110728"/>
          </a:xfrm>
          <a:prstGeom prst="rect">
            <a:avLst/>
          </a:prstGeom>
          <a:noFill/>
          <a:ln/>
        </p:spPr>
        <p:txBody>
          <a:bodyPr wrap="none" lIns="0" tIns="0" rIns="0" bIns="0" rtlCol="0" anchor="t">
            <a:spAutoFit/>
          </a:bodyPr>
          <a:lstStyle/>
          <a:p>
            <a:pPr algn="l" indent="0" marL="0">
              <a:buNone/>
            </a:pPr>
            <a:r>
              <a:rPr lang="en-US" sz="750" dirty="0">
                <a:solidFill>
                  <a:srgbClr val="333333"/>
                </a:solidFill>
                <a:latin typeface="Segoe UI" pitchFamily="34" charset="0"/>
                <a:ea typeface="Segoe UI" pitchFamily="34" charset="-122"/>
                <a:cs typeface="Segoe UI" pitchFamily="34" charset="-120"/>
              </a:rPr>
              <a:t>Stateless API</a:t>
            </a:r>
            <a:endParaRPr lang="en-US" sz="750" dirty="0"/>
          </a:p>
        </p:txBody>
      </p:sp>
      <p:sp>
        <p:nvSpPr>
          <p:cNvPr id="31" name="Text 20"/>
          <p:cNvSpPr/>
          <p:nvPr/>
        </p:nvSpPr>
        <p:spPr>
          <a:xfrm>
            <a:off x="7372350" y="2381548"/>
            <a:ext cx="383474" cy="110728"/>
          </a:xfrm>
          <a:prstGeom prst="rect">
            <a:avLst/>
          </a:prstGeom>
          <a:noFill/>
          <a:ln/>
        </p:spPr>
        <p:txBody>
          <a:bodyPr wrap="none" lIns="0" tIns="0" rIns="0" bIns="0" rtlCol="0" anchor="t">
            <a:spAutoFit/>
          </a:bodyPr>
          <a:lstStyle/>
          <a:p>
            <a:pPr algn="l" indent="0" marL="0">
              <a:buNone/>
            </a:pPr>
            <a:r>
              <a:rPr lang="en-US" sz="750" dirty="0">
                <a:solidFill>
                  <a:srgbClr val="333333"/>
                </a:solidFill>
                <a:latin typeface="Segoe UI" pitchFamily="34" charset="0"/>
                <a:ea typeface="Segoe UI" pitchFamily="34" charset="-122"/>
                <a:cs typeface="Segoe UI" pitchFamily="34" charset="-120"/>
              </a:rPr>
              <a:t>Fast I/O</a:t>
            </a:r>
            <a:endParaRPr lang="en-US" sz="750" dirty="0"/>
          </a:p>
        </p:txBody>
      </p:sp>
      <p:sp>
        <p:nvSpPr>
          <p:cNvPr id="32" name="Text 21"/>
          <p:cNvSpPr/>
          <p:nvPr/>
        </p:nvSpPr>
        <p:spPr>
          <a:xfrm>
            <a:off x="7372350" y="2495848"/>
            <a:ext cx="689428" cy="110728"/>
          </a:xfrm>
          <a:prstGeom prst="rect">
            <a:avLst/>
          </a:prstGeom>
          <a:noFill/>
          <a:ln/>
        </p:spPr>
        <p:txBody>
          <a:bodyPr wrap="none" lIns="0" tIns="0" rIns="0" bIns="0" rtlCol="0" anchor="t">
            <a:spAutoFit/>
          </a:bodyPr>
          <a:lstStyle/>
          <a:p>
            <a:pPr algn="l" indent="0" marL="0">
              <a:buNone/>
            </a:pPr>
            <a:r>
              <a:rPr lang="en-US" sz="750" dirty="0">
                <a:solidFill>
                  <a:srgbClr val="333333"/>
                </a:solidFill>
                <a:latin typeface="Segoe UI" pitchFamily="34" charset="0"/>
                <a:ea typeface="Segoe UI" pitchFamily="34" charset="-122"/>
                <a:cs typeface="Segoe UI" pitchFamily="34" charset="-120"/>
              </a:rPr>
              <a:t>Cloud Portable</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8644" y="649188"/>
            <a:ext cx="7986713" cy="292894"/>
          </a:xfrm>
          <a:prstGeom prst="rect">
            <a:avLst/>
          </a:prstGeom>
          <a:noFill/>
          <a:ln/>
        </p:spPr>
        <p:txBody>
          <a:bodyPr wrap="square" lIns="0" tIns="0" rIns="0" bIns="0" rtlCol="0" anchor="t">
            <a:spAutoFit/>
          </a:bodyPr>
          <a:lstStyle/>
          <a:p>
            <a:pPr algn="l" indent="0" marL="0">
              <a:buNone/>
            </a:pPr>
            <a:r>
              <a:rPr lang="en-US" sz="1800" b="1" spc="2" kern="0" dirty="0">
                <a:solidFill>
                  <a:srgbClr val="002244"/>
                </a:solidFill>
                <a:latin typeface="Courier New" pitchFamily="34" charset="0"/>
                <a:ea typeface="Courier New" pitchFamily="34" charset="-122"/>
                <a:cs typeface="Courier New" pitchFamily="34" charset="-120"/>
              </a:rPr>
              <a:t>APPLICATION SHOWCASE</a:t>
            </a:r>
            <a:endParaRPr lang="en-US" sz="1800" dirty="0"/>
          </a:p>
        </p:txBody>
      </p:sp>
      <p:sp>
        <p:nvSpPr>
          <p:cNvPr id="5" name="Text 1"/>
          <p:cNvSpPr/>
          <p:nvPr/>
        </p:nvSpPr>
        <p:spPr>
          <a:xfrm>
            <a:off x="578644" y="1084957"/>
            <a:ext cx="7986713" cy="160734"/>
          </a:xfrm>
          <a:prstGeom prst="rect">
            <a:avLst/>
          </a:prstGeom>
          <a:noFill/>
          <a:ln/>
        </p:spPr>
        <p:txBody>
          <a:bodyPr wrap="square" lIns="0" tIns="0" rIns="0" bIns="0" rtlCol="0" anchor="t">
            <a:spAutoFit/>
          </a:bodyPr>
          <a:lstStyle/>
          <a:p>
            <a:pPr algn="l" indent="0" marL="0">
              <a:buNone/>
            </a:pPr>
            <a:r>
              <a:rPr lang="en-US" sz="1050" dirty="0">
                <a:solidFill>
                  <a:srgbClr val="666666"/>
                </a:solidFill>
                <a:latin typeface="Segoe UI" pitchFamily="34" charset="0"/>
                <a:ea typeface="Segoe UI" pitchFamily="34" charset="-122"/>
                <a:cs typeface="Segoe UI" pitchFamily="34" charset="-120"/>
              </a:rPr>
              <a:t>Real-Time Spam Detection in Action</a:t>
            </a:r>
            <a:endParaRPr lang="en-US" sz="1050" dirty="0"/>
          </a:p>
        </p:txBody>
      </p:sp>
      <p:sp>
        <p:nvSpPr>
          <p:cNvPr id="6" name="Shape 2"/>
          <p:cNvSpPr/>
          <p:nvPr/>
        </p:nvSpPr>
        <p:spPr>
          <a:xfrm>
            <a:off x="578644" y="1531441"/>
            <a:ext cx="2566950" cy="2757488"/>
          </a:xfrm>
          <a:prstGeom prst="rect">
            <a:avLst/>
          </a:prstGeom>
          <a:solidFill>
            <a:srgbClr val="FFFFFF"/>
          </a:solidFill>
          <a:ln w="18288">
            <a:solidFill>
              <a:srgbClr val="002244"/>
            </a:solidFill>
            <a:prstDash val="solid"/>
          </a:ln>
        </p:spPr>
      </p:sp>
      <p:pic>
        <p:nvPicPr>
          <p:cNvPr id="7" name="Image 1" descr="preencoded.png">    </p:cNvPr>
          <p:cNvPicPr>
            <a:picLocks noChangeAspect="1"/>
          </p:cNvPicPr>
          <p:nvPr/>
        </p:nvPicPr>
        <p:blipFill>
          <a:blip r:embed="rId2"/>
          <a:stretch>
            <a:fillRect/>
          </a:stretch>
        </p:blipFill>
        <p:spPr>
          <a:xfrm>
            <a:off x="1690669" y="1685032"/>
            <a:ext cx="342900" cy="342900"/>
          </a:xfrm>
          <a:prstGeom prst="rect">
            <a:avLst/>
          </a:prstGeom>
        </p:spPr>
      </p:pic>
      <p:sp>
        <p:nvSpPr>
          <p:cNvPr id="8" name="Text 3"/>
          <p:cNvSpPr/>
          <p:nvPr/>
        </p:nvSpPr>
        <p:spPr>
          <a:xfrm>
            <a:off x="721519" y="2181523"/>
            <a:ext cx="2281200" cy="246459"/>
          </a:xfrm>
          <a:prstGeom prst="rect">
            <a:avLst/>
          </a:prstGeom>
          <a:noFill/>
          <a:ln/>
        </p:spPr>
        <p:txBody>
          <a:bodyPr wrap="square" lIns="0" tIns="0" rIns="0" bIns="85090" rtlCol="0" anchor="t">
            <a:spAutoFit/>
          </a:bodyPr>
          <a:lstStyle/>
          <a:p>
            <a:pPr algn="ctr" indent="0" marL="0">
              <a:buNone/>
            </a:pPr>
            <a:r>
              <a:rPr lang="en-US" sz="1000" b="1" dirty="0">
                <a:solidFill>
                  <a:srgbClr val="002244"/>
                </a:solidFill>
                <a:latin typeface="Courier New" pitchFamily="34" charset="0"/>
                <a:ea typeface="Courier New" pitchFamily="34" charset="-122"/>
                <a:cs typeface="Courier New" pitchFamily="34" charset="-120"/>
              </a:rPr>
              <a:t>MODERN INTERFACE</a:t>
            </a:r>
            <a:endParaRPr lang="en-US" sz="1000" dirty="0"/>
          </a:p>
        </p:txBody>
      </p:sp>
      <p:sp>
        <p:nvSpPr>
          <p:cNvPr id="9" name="Text 4"/>
          <p:cNvSpPr/>
          <p:nvPr/>
        </p:nvSpPr>
        <p:spPr>
          <a:xfrm>
            <a:off x="864394" y="2527995"/>
            <a:ext cx="1338225"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Streamlit-powered Web UI</a:t>
            </a:r>
            <a:endParaRPr lang="en-US" sz="850" dirty="0"/>
          </a:p>
        </p:txBody>
      </p:sp>
      <p:sp>
        <p:nvSpPr>
          <p:cNvPr id="10" name="Text 5"/>
          <p:cNvSpPr/>
          <p:nvPr/>
        </p:nvSpPr>
        <p:spPr>
          <a:xfrm>
            <a:off x="864394" y="2773728"/>
            <a:ext cx="1715170"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Microsoft Fluent Design principles</a:t>
            </a:r>
            <a:endParaRPr lang="en-US" sz="850" dirty="0"/>
          </a:p>
        </p:txBody>
      </p:sp>
      <p:sp>
        <p:nvSpPr>
          <p:cNvPr id="11" name="Text 6"/>
          <p:cNvSpPr/>
          <p:nvPr/>
        </p:nvSpPr>
        <p:spPr>
          <a:xfrm>
            <a:off x="864394" y="3019462"/>
            <a:ext cx="1251663"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Clean, responsive layout</a:t>
            </a:r>
            <a:endParaRPr lang="en-US" sz="850" dirty="0"/>
          </a:p>
        </p:txBody>
      </p:sp>
      <p:sp>
        <p:nvSpPr>
          <p:cNvPr id="12" name="Text 7"/>
          <p:cNvSpPr/>
          <p:nvPr/>
        </p:nvSpPr>
        <p:spPr>
          <a:xfrm>
            <a:off x="864394" y="3265196"/>
            <a:ext cx="946770"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Intuitive navigation</a:t>
            </a:r>
            <a:endParaRPr lang="en-US" sz="850" dirty="0"/>
          </a:p>
        </p:txBody>
      </p:sp>
      <p:sp>
        <p:nvSpPr>
          <p:cNvPr id="13" name="Text 8"/>
          <p:cNvSpPr/>
          <p:nvPr/>
        </p:nvSpPr>
        <p:spPr>
          <a:xfrm>
            <a:off x="721519" y="4063901"/>
            <a:ext cx="2281200" cy="225028"/>
          </a:xfrm>
          <a:prstGeom prst="rect">
            <a:avLst/>
          </a:prstGeom>
          <a:noFill/>
          <a:ln/>
        </p:spPr>
        <p:txBody>
          <a:bodyPr wrap="square" lIns="0" tIns="153035" rIns="0" bIns="0" rtlCol="0" anchor="t">
            <a:spAutoFit/>
          </a:bodyPr>
          <a:lstStyle/>
          <a:p>
            <a:pPr algn="ctr" indent="0" marL="0">
              <a:buNone/>
            </a:pPr>
            <a:r>
              <a:rPr lang="en-US" sz="600" dirty="0">
                <a:solidFill>
                  <a:srgbClr val="666666"/>
                </a:solidFill>
                <a:latin typeface="Courier New" pitchFamily="34" charset="0"/>
                <a:ea typeface="Courier New" pitchFamily="34" charset="-122"/>
                <a:cs typeface="Courier New" pitchFamily="34" charset="-120"/>
              </a:rPr>
              <a:t>[ HOME PAGE MODULE ]</a:t>
            </a:r>
            <a:endParaRPr lang="en-US" sz="600" dirty="0"/>
          </a:p>
        </p:txBody>
      </p:sp>
      <p:sp>
        <p:nvSpPr>
          <p:cNvPr id="14" name="Shape 9"/>
          <p:cNvSpPr/>
          <p:nvPr/>
        </p:nvSpPr>
        <p:spPr>
          <a:xfrm>
            <a:off x="3288469" y="1531441"/>
            <a:ext cx="2567006" cy="2757488"/>
          </a:xfrm>
          <a:prstGeom prst="rect">
            <a:avLst/>
          </a:prstGeom>
          <a:solidFill>
            <a:srgbClr val="FFFFFF"/>
          </a:solidFill>
          <a:ln w="18288">
            <a:solidFill>
              <a:srgbClr val="002244"/>
            </a:solidFill>
            <a:prstDash val="solid"/>
          </a:ln>
        </p:spPr>
      </p:sp>
      <p:pic>
        <p:nvPicPr>
          <p:cNvPr id="15" name="Image 2" descr="preencoded.png">    </p:cNvPr>
          <p:cNvPicPr>
            <a:picLocks noChangeAspect="1"/>
          </p:cNvPicPr>
          <p:nvPr/>
        </p:nvPicPr>
        <p:blipFill>
          <a:blip r:embed="rId3"/>
          <a:stretch>
            <a:fillRect/>
          </a:stretch>
        </p:blipFill>
        <p:spPr>
          <a:xfrm>
            <a:off x="4379063" y="1685032"/>
            <a:ext cx="385763" cy="342900"/>
          </a:xfrm>
          <a:prstGeom prst="rect">
            <a:avLst/>
          </a:prstGeom>
        </p:spPr>
      </p:pic>
      <p:sp>
        <p:nvSpPr>
          <p:cNvPr id="16" name="Text 10"/>
          <p:cNvSpPr/>
          <p:nvPr/>
        </p:nvSpPr>
        <p:spPr>
          <a:xfrm>
            <a:off x="3431344" y="2181523"/>
            <a:ext cx="2281256" cy="246459"/>
          </a:xfrm>
          <a:prstGeom prst="rect">
            <a:avLst/>
          </a:prstGeom>
          <a:noFill/>
          <a:ln/>
        </p:spPr>
        <p:txBody>
          <a:bodyPr wrap="square" lIns="0" tIns="0" rIns="0" bIns="85090" rtlCol="0" anchor="t">
            <a:spAutoFit/>
          </a:bodyPr>
          <a:lstStyle/>
          <a:p>
            <a:pPr algn="ctr" indent="0" marL="0">
              <a:buNone/>
            </a:pPr>
            <a:r>
              <a:rPr lang="en-US" sz="1000" b="1" dirty="0">
                <a:solidFill>
                  <a:srgbClr val="002244"/>
                </a:solidFill>
                <a:latin typeface="Courier New" pitchFamily="34" charset="0"/>
                <a:ea typeface="Courier New" pitchFamily="34" charset="-122"/>
                <a:cs typeface="Courier New" pitchFamily="34" charset="-120"/>
              </a:rPr>
              <a:t>INPUT &amp; ANALYSIS</a:t>
            </a:r>
            <a:endParaRPr lang="en-US" sz="1000" dirty="0"/>
          </a:p>
        </p:txBody>
      </p:sp>
      <p:sp>
        <p:nvSpPr>
          <p:cNvPr id="17" name="Text 11"/>
          <p:cNvSpPr/>
          <p:nvPr/>
        </p:nvSpPr>
        <p:spPr>
          <a:xfrm>
            <a:off x="3574219" y="2527995"/>
            <a:ext cx="1270639"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Simple text area for input</a:t>
            </a:r>
            <a:endParaRPr lang="en-US" sz="850" dirty="0"/>
          </a:p>
        </p:txBody>
      </p:sp>
      <p:sp>
        <p:nvSpPr>
          <p:cNvPr id="18" name="Text 12"/>
          <p:cNvSpPr/>
          <p:nvPr/>
        </p:nvSpPr>
        <p:spPr>
          <a:xfrm>
            <a:off x="3574219" y="2773728"/>
            <a:ext cx="1218400"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Instant "Analyze" trigger</a:t>
            </a:r>
            <a:endParaRPr lang="en-US" sz="850" dirty="0"/>
          </a:p>
        </p:txBody>
      </p:sp>
      <p:sp>
        <p:nvSpPr>
          <p:cNvPr id="19" name="Text 13"/>
          <p:cNvSpPr/>
          <p:nvPr/>
        </p:nvSpPr>
        <p:spPr>
          <a:xfrm>
            <a:off x="3574219" y="3019462"/>
            <a:ext cx="1420825"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Backend TF-IDF processing</a:t>
            </a:r>
            <a:endParaRPr lang="en-US" sz="850" dirty="0"/>
          </a:p>
        </p:txBody>
      </p:sp>
      <p:sp>
        <p:nvSpPr>
          <p:cNvPr id="20" name="Text 14"/>
          <p:cNvSpPr/>
          <p:nvPr/>
        </p:nvSpPr>
        <p:spPr>
          <a:xfrm>
            <a:off x="3574219" y="3265196"/>
            <a:ext cx="1359657"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Sub-second inference time</a:t>
            </a:r>
            <a:endParaRPr lang="en-US" sz="850" dirty="0"/>
          </a:p>
        </p:txBody>
      </p:sp>
      <p:sp>
        <p:nvSpPr>
          <p:cNvPr id="21" name="Text 15"/>
          <p:cNvSpPr/>
          <p:nvPr/>
        </p:nvSpPr>
        <p:spPr>
          <a:xfrm>
            <a:off x="3431344" y="4063901"/>
            <a:ext cx="2281256" cy="225028"/>
          </a:xfrm>
          <a:prstGeom prst="rect">
            <a:avLst/>
          </a:prstGeom>
          <a:noFill/>
          <a:ln/>
        </p:spPr>
        <p:txBody>
          <a:bodyPr wrap="square" lIns="0" tIns="153035" rIns="0" bIns="0" rtlCol="0" anchor="t">
            <a:spAutoFit/>
          </a:bodyPr>
          <a:lstStyle/>
          <a:p>
            <a:pPr algn="ctr" indent="0" marL="0">
              <a:buNone/>
            </a:pPr>
            <a:r>
              <a:rPr lang="en-US" sz="600" dirty="0">
                <a:solidFill>
                  <a:srgbClr val="666666"/>
                </a:solidFill>
                <a:latin typeface="Courier New" pitchFamily="34" charset="0"/>
                <a:ea typeface="Courier New" pitchFamily="34" charset="-122"/>
                <a:cs typeface="Courier New" pitchFamily="34" charset="-120"/>
              </a:rPr>
              <a:t>[ PREDICTION ENGINE ]</a:t>
            </a:r>
            <a:endParaRPr lang="en-US" sz="600" dirty="0"/>
          </a:p>
        </p:txBody>
      </p:sp>
      <p:sp>
        <p:nvSpPr>
          <p:cNvPr id="22" name="Shape 16"/>
          <p:cNvSpPr/>
          <p:nvPr/>
        </p:nvSpPr>
        <p:spPr>
          <a:xfrm>
            <a:off x="5998350" y="1531441"/>
            <a:ext cx="2567006" cy="2757488"/>
          </a:xfrm>
          <a:prstGeom prst="rect">
            <a:avLst/>
          </a:prstGeom>
          <a:solidFill>
            <a:srgbClr val="FFFFFF"/>
          </a:solidFill>
          <a:ln w="18288">
            <a:solidFill>
              <a:srgbClr val="002244"/>
            </a:solidFill>
            <a:prstDash val="solid"/>
          </a:ln>
        </p:spPr>
      </p:sp>
      <p:pic>
        <p:nvPicPr>
          <p:cNvPr id="23" name="Image 3" descr="preencoded.png">    </p:cNvPr>
          <p:cNvPicPr>
            <a:picLocks noChangeAspect="1"/>
          </p:cNvPicPr>
          <p:nvPr/>
        </p:nvPicPr>
        <p:blipFill>
          <a:blip r:embed="rId4"/>
          <a:stretch>
            <a:fillRect/>
          </a:stretch>
        </p:blipFill>
        <p:spPr>
          <a:xfrm>
            <a:off x="7131807" y="1685032"/>
            <a:ext cx="300038" cy="342900"/>
          </a:xfrm>
          <a:prstGeom prst="rect">
            <a:avLst/>
          </a:prstGeom>
        </p:spPr>
      </p:pic>
      <p:sp>
        <p:nvSpPr>
          <p:cNvPr id="24" name="Text 17"/>
          <p:cNvSpPr/>
          <p:nvPr/>
        </p:nvSpPr>
        <p:spPr>
          <a:xfrm>
            <a:off x="6141225" y="2181523"/>
            <a:ext cx="2281256" cy="246459"/>
          </a:xfrm>
          <a:prstGeom prst="rect">
            <a:avLst/>
          </a:prstGeom>
          <a:noFill/>
          <a:ln/>
        </p:spPr>
        <p:txBody>
          <a:bodyPr wrap="square" lIns="0" tIns="0" rIns="0" bIns="85090" rtlCol="0" anchor="t">
            <a:spAutoFit/>
          </a:bodyPr>
          <a:lstStyle/>
          <a:p>
            <a:pPr algn="ctr" indent="0" marL="0">
              <a:buNone/>
            </a:pPr>
            <a:r>
              <a:rPr lang="en-US" sz="1000" b="1" dirty="0">
                <a:solidFill>
                  <a:srgbClr val="002244"/>
                </a:solidFill>
                <a:latin typeface="Courier New" pitchFamily="34" charset="0"/>
                <a:ea typeface="Courier New" pitchFamily="34" charset="-122"/>
                <a:cs typeface="Courier New" pitchFamily="34" charset="-120"/>
              </a:rPr>
              <a:t>VISUAL FEEDBACK</a:t>
            </a:r>
            <a:endParaRPr lang="en-US" sz="1000" dirty="0"/>
          </a:p>
        </p:txBody>
      </p:sp>
      <p:sp>
        <p:nvSpPr>
          <p:cNvPr id="25" name="Text 18"/>
          <p:cNvSpPr/>
          <p:nvPr/>
        </p:nvSpPr>
        <p:spPr>
          <a:xfrm>
            <a:off x="6284100" y="2527995"/>
            <a:ext cx="1302339"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Color-coded classification</a:t>
            </a:r>
            <a:endParaRPr lang="en-US" sz="850" dirty="0"/>
          </a:p>
        </p:txBody>
      </p:sp>
      <p:sp>
        <p:nvSpPr>
          <p:cNvPr id="26" name="Text 19"/>
          <p:cNvSpPr/>
          <p:nvPr/>
        </p:nvSpPr>
        <p:spPr>
          <a:xfrm>
            <a:off x="6284100" y="2773728"/>
            <a:ext cx="1378521"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Dynamic Confidence Meter</a:t>
            </a:r>
            <a:endParaRPr lang="en-US" sz="850" dirty="0"/>
          </a:p>
        </p:txBody>
      </p:sp>
      <p:sp>
        <p:nvSpPr>
          <p:cNvPr id="27" name="Text 20"/>
          <p:cNvSpPr/>
          <p:nvPr/>
        </p:nvSpPr>
        <p:spPr>
          <a:xfrm>
            <a:off x="6284100" y="3019462"/>
            <a:ext cx="1378297"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Spam (Red) / Ham (Green)</a:t>
            </a:r>
            <a:endParaRPr lang="en-US" sz="850" dirty="0"/>
          </a:p>
        </p:txBody>
      </p:sp>
      <p:sp>
        <p:nvSpPr>
          <p:cNvPr id="28" name="Text 21"/>
          <p:cNvSpPr/>
          <p:nvPr/>
        </p:nvSpPr>
        <p:spPr>
          <a:xfrm>
            <a:off x="6284100" y="3265196"/>
            <a:ext cx="1232464"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Probability score display</a:t>
            </a:r>
            <a:endParaRPr lang="en-US" sz="850" dirty="0"/>
          </a:p>
        </p:txBody>
      </p:sp>
      <p:sp>
        <p:nvSpPr>
          <p:cNvPr id="29" name="Text 22"/>
          <p:cNvSpPr/>
          <p:nvPr/>
        </p:nvSpPr>
        <p:spPr>
          <a:xfrm>
            <a:off x="6141225" y="4021038"/>
            <a:ext cx="2281256" cy="225028"/>
          </a:xfrm>
          <a:prstGeom prst="rect">
            <a:avLst/>
          </a:prstGeom>
          <a:noFill/>
          <a:ln/>
        </p:spPr>
        <p:txBody>
          <a:bodyPr wrap="square" lIns="0" tIns="153035" rIns="0" bIns="0" rtlCol="0" anchor="t">
            <a:spAutoFit/>
          </a:bodyPr>
          <a:lstStyle/>
          <a:p>
            <a:pPr algn="ctr" indent="0" marL="0">
              <a:buNone/>
            </a:pPr>
            <a:r>
              <a:rPr lang="en-US" sz="600" dirty="0">
                <a:solidFill>
                  <a:srgbClr val="666666"/>
                </a:solidFill>
                <a:latin typeface="Courier New" pitchFamily="34" charset="0"/>
                <a:ea typeface="Courier New" pitchFamily="34" charset="-122"/>
                <a:cs typeface="Courier New" pitchFamily="34" charset="-120"/>
              </a:rPr>
              <a:t>[ RESULT DASHBOARD ]</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8644" y="649188"/>
            <a:ext cx="7986713" cy="292894"/>
          </a:xfrm>
          <a:prstGeom prst="rect">
            <a:avLst/>
          </a:prstGeom>
          <a:noFill/>
          <a:ln/>
        </p:spPr>
        <p:txBody>
          <a:bodyPr wrap="square" lIns="0" tIns="0" rIns="0" bIns="0" rtlCol="0" anchor="t">
            <a:spAutoFit/>
          </a:bodyPr>
          <a:lstStyle/>
          <a:p>
            <a:pPr algn="l" indent="0" marL="0">
              <a:buNone/>
            </a:pPr>
            <a:r>
              <a:rPr lang="en-US" sz="1800" b="1" spc="2" kern="0" dirty="0">
                <a:solidFill>
                  <a:srgbClr val="002244"/>
                </a:solidFill>
                <a:latin typeface="Courier New" pitchFamily="34" charset="0"/>
                <a:ea typeface="Courier New" pitchFamily="34" charset="-122"/>
                <a:cs typeface="Courier New" pitchFamily="34" charset="-120"/>
              </a:rPr>
              <a:t>THE TECHNOLOGY STACK</a:t>
            </a:r>
            <a:endParaRPr lang="en-US" sz="1800" dirty="0"/>
          </a:p>
        </p:txBody>
      </p:sp>
      <p:sp>
        <p:nvSpPr>
          <p:cNvPr id="5" name="Text 1"/>
          <p:cNvSpPr/>
          <p:nvPr/>
        </p:nvSpPr>
        <p:spPr>
          <a:xfrm>
            <a:off x="578644" y="1084957"/>
            <a:ext cx="7986713" cy="160734"/>
          </a:xfrm>
          <a:prstGeom prst="rect">
            <a:avLst/>
          </a:prstGeom>
          <a:noFill/>
          <a:ln/>
        </p:spPr>
        <p:txBody>
          <a:bodyPr wrap="square" lIns="0" tIns="0" rIns="0" bIns="0" rtlCol="0" anchor="t">
            <a:spAutoFit/>
          </a:bodyPr>
          <a:lstStyle/>
          <a:p>
            <a:pPr algn="l" indent="0" marL="0">
              <a:buNone/>
            </a:pPr>
            <a:r>
              <a:rPr lang="en-US" sz="1050" dirty="0">
                <a:solidFill>
                  <a:srgbClr val="666666"/>
                </a:solidFill>
                <a:latin typeface="Segoe UI" pitchFamily="34" charset="0"/>
                <a:ea typeface="Segoe UI" pitchFamily="34" charset="-122"/>
                <a:cs typeface="Segoe UI" pitchFamily="34" charset="-120"/>
              </a:rPr>
              <a:t>Industry-Standard Tools for Robust AI Development</a:t>
            </a:r>
            <a:endParaRPr lang="en-US" sz="1050" dirty="0"/>
          </a:p>
        </p:txBody>
      </p:sp>
      <p:sp>
        <p:nvSpPr>
          <p:cNvPr id="6" name="Shape 2"/>
          <p:cNvSpPr/>
          <p:nvPr/>
        </p:nvSpPr>
        <p:spPr>
          <a:xfrm>
            <a:off x="578644" y="1531441"/>
            <a:ext cx="1482998" cy="1471613"/>
          </a:xfrm>
          <a:prstGeom prst="rect">
            <a:avLst/>
          </a:prstGeom>
          <a:solidFill>
            <a:srgbClr val="FFFFFF"/>
          </a:solidFill>
          <a:ln w="18288">
            <a:solidFill>
              <a:srgbClr val="002244"/>
            </a:solidFill>
            <a:prstDash val="solid"/>
          </a:ln>
        </p:spPr>
      </p:sp>
      <p:pic>
        <p:nvPicPr>
          <p:cNvPr id="7" name="Image 1" descr="preencoded.png">    </p:cNvPr>
          <p:cNvPicPr>
            <a:picLocks noChangeAspect="1"/>
          </p:cNvPicPr>
          <p:nvPr/>
        </p:nvPicPr>
        <p:blipFill>
          <a:blip r:embed="rId2"/>
          <a:stretch>
            <a:fillRect/>
          </a:stretch>
        </p:blipFill>
        <p:spPr>
          <a:xfrm>
            <a:off x="1220130" y="1674316"/>
            <a:ext cx="200025" cy="228600"/>
          </a:xfrm>
          <a:prstGeom prst="rect">
            <a:avLst/>
          </a:prstGeom>
        </p:spPr>
      </p:pic>
      <p:sp>
        <p:nvSpPr>
          <p:cNvPr id="8" name="Text 3"/>
          <p:cNvSpPr/>
          <p:nvPr/>
        </p:nvSpPr>
        <p:spPr>
          <a:xfrm>
            <a:off x="1114369" y="1988641"/>
            <a:ext cx="411547" cy="132159"/>
          </a:xfrm>
          <a:prstGeom prst="rect">
            <a:avLst/>
          </a:prstGeom>
          <a:noFill/>
          <a:ln/>
        </p:spPr>
        <p:txBody>
          <a:bodyPr wrap="none" lIns="0" tIns="0" rIns="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PYTHON</a:t>
            </a:r>
            <a:endParaRPr lang="en-US" sz="800" dirty="0"/>
          </a:p>
        </p:txBody>
      </p:sp>
      <p:sp>
        <p:nvSpPr>
          <p:cNvPr id="9" name="Text 4"/>
          <p:cNvSpPr/>
          <p:nvPr/>
        </p:nvSpPr>
        <p:spPr>
          <a:xfrm>
            <a:off x="813774" y="2202954"/>
            <a:ext cx="1091264"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Core programming language</a:t>
            </a:r>
            <a:endParaRPr lang="en-US" sz="600" dirty="0"/>
          </a:p>
        </p:txBody>
      </p:sp>
      <p:sp>
        <p:nvSpPr>
          <p:cNvPr id="10" name="Text 5"/>
          <p:cNvSpPr/>
          <p:nvPr/>
        </p:nvSpPr>
        <p:spPr>
          <a:xfrm>
            <a:off x="1088250" y="2322947"/>
            <a:ext cx="463730"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for ML logic.</a:t>
            </a:r>
            <a:endParaRPr lang="en-US" sz="600" dirty="0"/>
          </a:p>
        </p:txBody>
      </p:sp>
      <p:sp>
        <p:nvSpPr>
          <p:cNvPr id="11" name="Shape 6"/>
          <p:cNvSpPr/>
          <p:nvPr/>
        </p:nvSpPr>
        <p:spPr>
          <a:xfrm>
            <a:off x="2204517" y="1531441"/>
            <a:ext cx="1483054" cy="1471613"/>
          </a:xfrm>
          <a:prstGeom prst="rect">
            <a:avLst/>
          </a:prstGeom>
          <a:solidFill>
            <a:srgbClr val="FFFFFF"/>
          </a:solidFill>
          <a:ln w="18288">
            <a:solidFill>
              <a:srgbClr val="002244"/>
            </a:solidFill>
            <a:prstDash val="solid"/>
          </a:ln>
        </p:spPr>
      </p:sp>
      <p:pic>
        <p:nvPicPr>
          <p:cNvPr id="12" name="Image 2" descr="preencoded.png">    </p:cNvPr>
          <p:cNvPicPr>
            <a:picLocks noChangeAspect="1"/>
          </p:cNvPicPr>
          <p:nvPr/>
        </p:nvPicPr>
        <p:blipFill>
          <a:blip r:embed="rId3"/>
          <a:stretch>
            <a:fillRect/>
          </a:stretch>
        </p:blipFill>
        <p:spPr>
          <a:xfrm>
            <a:off x="2831716" y="1674316"/>
            <a:ext cx="228600" cy="228600"/>
          </a:xfrm>
          <a:prstGeom prst="rect">
            <a:avLst/>
          </a:prstGeom>
        </p:spPr>
      </p:pic>
      <p:sp>
        <p:nvSpPr>
          <p:cNvPr id="13" name="Text 7"/>
          <p:cNvSpPr/>
          <p:nvPr/>
        </p:nvSpPr>
        <p:spPr>
          <a:xfrm>
            <a:off x="2740242" y="1988641"/>
            <a:ext cx="411547" cy="132159"/>
          </a:xfrm>
          <a:prstGeom prst="rect">
            <a:avLst/>
          </a:prstGeom>
          <a:noFill/>
          <a:ln/>
        </p:spPr>
        <p:txBody>
          <a:bodyPr wrap="none" lIns="0" tIns="0" rIns="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PANDAS</a:t>
            </a:r>
            <a:endParaRPr lang="en-US" sz="800" dirty="0"/>
          </a:p>
        </p:txBody>
      </p:sp>
      <p:sp>
        <p:nvSpPr>
          <p:cNvPr id="14" name="Text 8"/>
          <p:cNvSpPr/>
          <p:nvPr/>
        </p:nvSpPr>
        <p:spPr>
          <a:xfrm>
            <a:off x="2556402" y="2202954"/>
            <a:ext cx="857864"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Data manipulation and</a:t>
            </a:r>
            <a:endParaRPr lang="en-US" sz="600" dirty="0"/>
          </a:p>
        </p:txBody>
      </p:sp>
      <p:sp>
        <p:nvSpPr>
          <p:cNvPr id="15" name="Text 9"/>
          <p:cNvSpPr/>
          <p:nvPr/>
        </p:nvSpPr>
        <p:spPr>
          <a:xfrm>
            <a:off x="2653847" y="2322947"/>
            <a:ext cx="584392"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analysis library.</a:t>
            </a:r>
            <a:endParaRPr lang="en-US" sz="600" dirty="0"/>
          </a:p>
        </p:txBody>
      </p:sp>
      <p:sp>
        <p:nvSpPr>
          <p:cNvPr id="16" name="Shape 10"/>
          <p:cNvSpPr/>
          <p:nvPr/>
        </p:nvSpPr>
        <p:spPr>
          <a:xfrm>
            <a:off x="3830445" y="1531441"/>
            <a:ext cx="1483054" cy="1471613"/>
          </a:xfrm>
          <a:prstGeom prst="rect">
            <a:avLst/>
          </a:prstGeom>
          <a:solidFill>
            <a:srgbClr val="FFFFFF"/>
          </a:solidFill>
          <a:ln w="18288">
            <a:solidFill>
              <a:srgbClr val="002244"/>
            </a:solidFill>
            <a:prstDash val="solid"/>
          </a:ln>
        </p:spPr>
      </p:sp>
      <p:pic>
        <p:nvPicPr>
          <p:cNvPr id="17" name="Image 3" descr="preencoded.png">    </p:cNvPr>
          <p:cNvPicPr>
            <a:picLocks noChangeAspect="1"/>
          </p:cNvPicPr>
          <p:nvPr/>
        </p:nvPicPr>
        <p:blipFill>
          <a:blip r:embed="rId4"/>
          <a:stretch>
            <a:fillRect/>
          </a:stretch>
        </p:blipFill>
        <p:spPr>
          <a:xfrm>
            <a:off x="4486219" y="1674316"/>
            <a:ext cx="171450" cy="228600"/>
          </a:xfrm>
          <a:prstGeom prst="rect">
            <a:avLst/>
          </a:prstGeom>
        </p:spPr>
      </p:pic>
      <p:sp>
        <p:nvSpPr>
          <p:cNvPr id="18" name="Text 11"/>
          <p:cNvSpPr/>
          <p:nvPr/>
        </p:nvSpPr>
        <p:spPr>
          <a:xfrm>
            <a:off x="4400494" y="1988641"/>
            <a:ext cx="342956" cy="132159"/>
          </a:xfrm>
          <a:prstGeom prst="rect">
            <a:avLst/>
          </a:prstGeom>
          <a:noFill/>
          <a:ln/>
        </p:spPr>
        <p:txBody>
          <a:bodyPr wrap="none" lIns="0" tIns="0" rIns="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NUMPY</a:t>
            </a:r>
            <a:endParaRPr lang="en-US" sz="800" dirty="0"/>
          </a:p>
        </p:txBody>
      </p:sp>
      <p:sp>
        <p:nvSpPr>
          <p:cNvPr id="19" name="Text 12"/>
          <p:cNvSpPr/>
          <p:nvPr/>
        </p:nvSpPr>
        <p:spPr>
          <a:xfrm>
            <a:off x="4125237" y="2202954"/>
            <a:ext cx="972052"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Numerical computing and</a:t>
            </a:r>
            <a:endParaRPr lang="en-US" sz="600" dirty="0"/>
          </a:p>
        </p:txBody>
      </p:sp>
      <p:sp>
        <p:nvSpPr>
          <p:cNvPr id="20" name="Text 13"/>
          <p:cNvSpPr/>
          <p:nvPr/>
        </p:nvSpPr>
        <p:spPr>
          <a:xfrm>
            <a:off x="4250308" y="2322947"/>
            <a:ext cx="643272"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array operations.</a:t>
            </a:r>
            <a:endParaRPr lang="en-US" sz="600" dirty="0"/>
          </a:p>
        </p:txBody>
      </p:sp>
      <p:sp>
        <p:nvSpPr>
          <p:cNvPr id="21" name="Shape 14"/>
          <p:cNvSpPr/>
          <p:nvPr/>
        </p:nvSpPr>
        <p:spPr>
          <a:xfrm>
            <a:off x="5456374" y="1531441"/>
            <a:ext cx="1483054" cy="1471613"/>
          </a:xfrm>
          <a:prstGeom prst="rect">
            <a:avLst/>
          </a:prstGeom>
          <a:solidFill>
            <a:srgbClr val="FFFFFF"/>
          </a:solidFill>
          <a:ln w="18288">
            <a:solidFill>
              <a:srgbClr val="002244"/>
            </a:solidFill>
            <a:prstDash val="solid"/>
          </a:ln>
        </p:spPr>
      </p:sp>
      <p:pic>
        <p:nvPicPr>
          <p:cNvPr id="22" name="Image 4" descr="preencoded.png">    </p:cNvPr>
          <p:cNvPicPr>
            <a:picLocks noChangeAspect="1"/>
          </p:cNvPicPr>
          <p:nvPr/>
        </p:nvPicPr>
        <p:blipFill>
          <a:blip r:embed="rId5"/>
          <a:stretch>
            <a:fillRect/>
          </a:stretch>
        </p:blipFill>
        <p:spPr>
          <a:xfrm>
            <a:off x="6083573" y="1674316"/>
            <a:ext cx="228600" cy="228600"/>
          </a:xfrm>
          <a:prstGeom prst="rect">
            <a:avLst/>
          </a:prstGeom>
        </p:spPr>
      </p:pic>
      <p:sp>
        <p:nvSpPr>
          <p:cNvPr id="23" name="Text 15"/>
          <p:cNvSpPr/>
          <p:nvPr/>
        </p:nvSpPr>
        <p:spPr>
          <a:xfrm>
            <a:off x="5786326" y="1988641"/>
            <a:ext cx="823094" cy="132159"/>
          </a:xfrm>
          <a:prstGeom prst="rect">
            <a:avLst/>
          </a:prstGeom>
          <a:noFill/>
          <a:ln/>
        </p:spPr>
        <p:txBody>
          <a:bodyPr wrap="none" lIns="0" tIns="0" rIns="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SCIKIT-LEARN</a:t>
            </a:r>
            <a:endParaRPr lang="en-US" sz="800" dirty="0"/>
          </a:p>
        </p:txBody>
      </p:sp>
      <p:sp>
        <p:nvSpPr>
          <p:cNvPr id="24" name="Text 16"/>
          <p:cNvSpPr/>
          <p:nvPr/>
        </p:nvSpPr>
        <p:spPr>
          <a:xfrm>
            <a:off x="5757528" y="2202954"/>
            <a:ext cx="959327"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ML algorithms and model</a:t>
            </a:r>
            <a:endParaRPr lang="en-US" sz="600" dirty="0"/>
          </a:p>
        </p:txBody>
      </p:sp>
      <p:sp>
        <p:nvSpPr>
          <p:cNvPr id="25" name="Text 17"/>
          <p:cNvSpPr/>
          <p:nvPr/>
        </p:nvSpPr>
        <p:spPr>
          <a:xfrm>
            <a:off x="5990537" y="2322947"/>
            <a:ext cx="414672"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evaluation.</a:t>
            </a:r>
            <a:endParaRPr lang="en-US" sz="600" dirty="0"/>
          </a:p>
        </p:txBody>
      </p:sp>
      <p:sp>
        <p:nvSpPr>
          <p:cNvPr id="26" name="Shape 18"/>
          <p:cNvSpPr/>
          <p:nvPr/>
        </p:nvSpPr>
        <p:spPr>
          <a:xfrm>
            <a:off x="7082303" y="1531441"/>
            <a:ext cx="1483054" cy="1471613"/>
          </a:xfrm>
          <a:prstGeom prst="rect">
            <a:avLst/>
          </a:prstGeom>
          <a:solidFill>
            <a:srgbClr val="FFFFFF"/>
          </a:solidFill>
          <a:ln w="18288">
            <a:solidFill>
              <a:srgbClr val="002244"/>
            </a:solidFill>
            <a:prstDash val="solid"/>
          </a:ln>
        </p:spPr>
      </p:sp>
      <p:pic>
        <p:nvPicPr>
          <p:cNvPr id="27" name="Image 5" descr="preencoded.png">    </p:cNvPr>
          <p:cNvPicPr>
            <a:picLocks noChangeAspect="1"/>
          </p:cNvPicPr>
          <p:nvPr/>
        </p:nvPicPr>
        <p:blipFill>
          <a:blip r:embed="rId6"/>
          <a:stretch>
            <a:fillRect/>
          </a:stretch>
        </p:blipFill>
        <p:spPr>
          <a:xfrm>
            <a:off x="7723789" y="1674316"/>
            <a:ext cx="200025" cy="228600"/>
          </a:xfrm>
          <a:prstGeom prst="rect">
            <a:avLst/>
          </a:prstGeom>
        </p:spPr>
      </p:pic>
      <p:sp>
        <p:nvSpPr>
          <p:cNvPr id="28" name="Text 19"/>
          <p:cNvSpPr/>
          <p:nvPr/>
        </p:nvSpPr>
        <p:spPr>
          <a:xfrm>
            <a:off x="7618028" y="1988641"/>
            <a:ext cx="411547" cy="132159"/>
          </a:xfrm>
          <a:prstGeom prst="rect">
            <a:avLst/>
          </a:prstGeom>
          <a:noFill/>
          <a:ln/>
        </p:spPr>
        <p:txBody>
          <a:bodyPr wrap="none" lIns="0" tIns="0" rIns="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TF-IDF</a:t>
            </a:r>
            <a:endParaRPr lang="en-US" sz="800" dirty="0"/>
          </a:p>
        </p:txBody>
      </p:sp>
      <p:sp>
        <p:nvSpPr>
          <p:cNvPr id="29" name="Text 20"/>
          <p:cNvSpPr/>
          <p:nvPr/>
        </p:nvSpPr>
        <p:spPr>
          <a:xfrm>
            <a:off x="7272282" y="2202954"/>
            <a:ext cx="809978"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Text vectorization for</a:t>
            </a:r>
            <a:endParaRPr lang="en-US" sz="600" dirty="0"/>
          </a:p>
        </p:txBody>
      </p:sp>
      <p:sp>
        <p:nvSpPr>
          <p:cNvPr id="30" name="Text 21"/>
          <p:cNvSpPr/>
          <p:nvPr/>
        </p:nvSpPr>
        <p:spPr>
          <a:xfrm>
            <a:off x="7718933" y="2202954"/>
            <a:ext cx="734969" cy="216433"/>
          </a:xfrm>
          <a:prstGeom prst="rect">
            <a:avLst/>
          </a:prstGeom>
          <a:noFill/>
          <a:ln/>
        </p:spPr>
        <p:txBody>
          <a:bodyPr wrap="squar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numerical input.</a:t>
            </a:r>
            <a:endParaRPr lang="en-US" sz="600" dirty="0"/>
          </a:p>
        </p:txBody>
      </p:sp>
      <p:sp>
        <p:nvSpPr>
          <p:cNvPr id="31" name="Shape 22"/>
          <p:cNvSpPr/>
          <p:nvPr/>
        </p:nvSpPr>
        <p:spPr>
          <a:xfrm>
            <a:off x="578644" y="3145929"/>
            <a:ext cx="1482998" cy="1471613"/>
          </a:xfrm>
          <a:prstGeom prst="rect">
            <a:avLst/>
          </a:prstGeom>
          <a:solidFill>
            <a:srgbClr val="FFFFFF"/>
          </a:solidFill>
          <a:ln w="18288">
            <a:solidFill>
              <a:srgbClr val="002244"/>
            </a:solidFill>
            <a:prstDash val="solid"/>
          </a:ln>
        </p:spPr>
      </p:sp>
      <p:pic>
        <p:nvPicPr>
          <p:cNvPr id="32" name="Image 6" descr="preencoded.png">    </p:cNvPr>
          <p:cNvPicPr>
            <a:picLocks noChangeAspect="1"/>
          </p:cNvPicPr>
          <p:nvPr/>
        </p:nvPicPr>
        <p:blipFill>
          <a:blip r:embed="rId7"/>
          <a:stretch>
            <a:fillRect/>
          </a:stretch>
        </p:blipFill>
        <p:spPr>
          <a:xfrm>
            <a:off x="1205843" y="3288804"/>
            <a:ext cx="228600" cy="228600"/>
          </a:xfrm>
          <a:prstGeom prst="rect">
            <a:avLst/>
          </a:prstGeom>
        </p:spPr>
      </p:pic>
      <p:sp>
        <p:nvSpPr>
          <p:cNvPr id="33" name="Text 23"/>
          <p:cNvSpPr/>
          <p:nvPr/>
        </p:nvSpPr>
        <p:spPr>
          <a:xfrm>
            <a:off x="1011455" y="3603129"/>
            <a:ext cx="617320" cy="132159"/>
          </a:xfrm>
          <a:prstGeom prst="rect">
            <a:avLst/>
          </a:prstGeom>
          <a:noFill/>
          <a:ln/>
        </p:spPr>
        <p:txBody>
          <a:bodyPr wrap="none" lIns="0" tIns="0" rIns="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STREAMLIT</a:t>
            </a:r>
            <a:endParaRPr lang="en-US" sz="800" dirty="0"/>
          </a:p>
        </p:txBody>
      </p:sp>
      <p:sp>
        <p:nvSpPr>
          <p:cNvPr id="34" name="Text 24"/>
          <p:cNvSpPr/>
          <p:nvPr/>
        </p:nvSpPr>
        <p:spPr>
          <a:xfrm>
            <a:off x="785366" y="3817441"/>
            <a:ext cx="990860"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Framework for interactive</a:t>
            </a:r>
            <a:endParaRPr lang="en-US" sz="600" dirty="0"/>
          </a:p>
        </p:txBody>
      </p:sp>
      <p:sp>
        <p:nvSpPr>
          <p:cNvPr id="35" name="Text 25"/>
          <p:cNvSpPr/>
          <p:nvPr/>
        </p:nvSpPr>
        <p:spPr>
          <a:xfrm>
            <a:off x="1215275" y="3817441"/>
            <a:ext cx="718226" cy="216433"/>
          </a:xfrm>
          <a:prstGeom prst="rect">
            <a:avLst/>
          </a:prstGeom>
          <a:noFill/>
          <a:ln/>
        </p:spPr>
        <p:txBody>
          <a:bodyPr wrap="squar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web apps.</a:t>
            </a:r>
            <a:endParaRPr lang="en-US" sz="600" dirty="0"/>
          </a:p>
        </p:txBody>
      </p:sp>
      <p:sp>
        <p:nvSpPr>
          <p:cNvPr id="36" name="Shape 26"/>
          <p:cNvSpPr/>
          <p:nvPr/>
        </p:nvSpPr>
        <p:spPr>
          <a:xfrm>
            <a:off x="2204517" y="3145929"/>
            <a:ext cx="1483054" cy="1471613"/>
          </a:xfrm>
          <a:prstGeom prst="rect">
            <a:avLst/>
          </a:prstGeom>
          <a:solidFill>
            <a:srgbClr val="FFFFFF"/>
          </a:solidFill>
          <a:ln w="18288">
            <a:solidFill>
              <a:srgbClr val="002244"/>
            </a:solidFill>
            <a:prstDash val="solid"/>
          </a:ln>
        </p:spPr>
      </p:sp>
      <p:pic>
        <p:nvPicPr>
          <p:cNvPr id="37" name="Image 7" descr="preencoded.png">    </p:cNvPr>
          <p:cNvPicPr>
            <a:picLocks noChangeAspect="1"/>
          </p:cNvPicPr>
          <p:nvPr/>
        </p:nvPicPr>
        <p:blipFill>
          <a:blip r:embed="rId8"/>
          <a:stretch>
            <a:fillRect/>
          </a:stretch>
        </p:blipFill>
        <p:spPr>
          <a:xfrm>
            <a:off x="2835287" y="3288804"/>
            <a:ext cx="221456" cy="228600"/>
          </a:xfrm>
          <a:prstGeom prst="rect">
            <a:avLst/>
          </a:prstGeom>
        </p:spPr>
      </p:pic>
      <p:sp>
        <p:nvSpPr>
          <p:cNvPr id="38" name="Text 27"/>
          <p:cNvSpPr/>
          <p:nvPr/>
        </p:nvSpPr>
        <p:spPr>
          <a:xfrm>
            <a:off x="2740242" y="3603129"/>
            <a:ext cx="411547" cy="132159"/>
          </a:xfrm>
          <a:prstGeom prst="rect">
            <a:avLst/>
          </a:prstGeom>
          <a:noFill/>
          <a:ln/>
        </p:spPr>
        <p:txBody>
          <a:bodyPr wrap="none" lIns="0" tIns="0" rIns="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GITHUB</a:t>
            </a:r>
            <a:endParaRPr lang="en-US" sz="800" dirty="0"/>
          </a:p>
        </p:txBody>
      </p:sp>
      <p:sp>
        <p:nvSpPr>
          <p:cNvPr id="39" name="Text 28"/>
          <p:cNvSpPr/>
          <p:nvPr/>
        </p:nvSpPr>
        <p:spPr>
          <a:xfrm>
            <a:off x="2513484" y="3817441"/>
            <a:ext cx="943645"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Version control and code</a:t>
            </a:r>
            <a:endParaRPr lang="en-US" sz="600" dirty="0"/>
          </a:p>
        </p:txBody>
      </p:sp>
      <p:sp>
        <p:nvSpPr>
          <p:cNvPr id="40" name="Text 29"/>
          <p:cNvSpPr/>
          <p:nvPr/>
        </p:nvSpPr>
        <p:spPr>
          <a:xfrm>
            <a:off x="2691073" y="3937434"/>
            <a:ext cx="509941"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collaboration.</a:t>
            </a:r>
            <a:endParaRPr lang="en-US" sz="600" dirty="0"/>
          </a:p>
        </p:txBody>
      </p:sp>
      <p:sp>
        <p:nvSpPr>
          <p:cNvPr id="41" name="Shape 30"/>
          <p:cNvSpPr/>
          <p:nvPr/>
        </p:nvSpPr>
        <p:spPr>
          <a:xfrm>
            <a:off x="3830445" y="3145929"/>
            <a:ext cx="1483054" cy="1471613"/>
          </a:xfrm>
          <a:prstGeom prst="rect">
            <a:avLst/>
          </a:prstGeom>
          <a:solidFill>
            <a:srgbClr val="FFFFFF"/>
          </a:solidFill>
          <a:ln w="18288">
            <a:solidFill>
              <a:srgbClr val="002244"/>
            </a:solidFill>
            <a:prstDash val="solid"/>
          </a:ln>
        </p:spPr>
      </p:sp>
      <p:pic>
        <p:nvPicPr>
          <p:cNvPr id="42" name="Image 8" descr="preencoded.png">    </p:cNvPr>
          <p:cNvPicPr>
            <a:picLocks noChangeAspect="1"/>
          </p:cNvPicPr>
          <p:nvPr/>
        </p:nvPicPr>
        <p:blipFill>
          <a:blip r:embed="rId9"/>
          <a:stretch>
            <a:fillRect/>
          </a:stretch>
        </p:blipFill>
        <p:spPr>
          <a:xfrm>
            <a:off x="4457644" y="3288804"/>
            <a:ext cx="228600" cy="228600"/>
          </a:xfrm>
          <a:prstGeom prst="rect">
            <a:avLst/>
          </a:prstGeom>
        </p:spPr>
      </p:pic>
      <p:sp>
        <p:nvSpPr>
          <p:cNvPr id="43" name="Text 31"/>
          <p:cNvSpPr/>
          <p:nvPr/>
        </p:nvSpPr>
        <p:spPr>
          <a:xfrm>
            <a:off x="4366171" y="3603129"/>
            <a:ext cx="411547" cy="132159"/>
          </a:xfrm>
          <a:prstGeom prst="rect">
            <a:avLst/>
          </a:prstGeom>
          <a:noFill/>
          <a:ln/>
        </p:spPr>
        <p:txBody>
          <a:bodyPr wrap="none" lIns="0" tIns="0" rIns="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JOBLIB</a:t>
            </a:r>
            <a:endParaRPr lang="en-US" sz="800" dirty="0"/>
          </a:p>
        </p:txBody>
      </p:sp>
      <p:sp>
        <p:nvSpPr>
          <p:cNvPr id="44" name="Text 32"/>
          <p:cNvSpPr/>
          <p:nvPr/>
        </p:nvSpPr>
        <p:spPr>
          <a:xfrm>
            <a:off x="4172843" y="3817441"/>
            <a:ext cx="876840"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Model serialization and</a:t>
            </a:r>
            <a:endParaRPr lang="en-US" sz="600" dirty="0"/>
          </a:p>
        </p:txBody>
      </p:sp>
      <p:sp>
        <p:nvSpPr>
          <p:cNvPr id="45" name="Text 33"/>
          <p:cNvSpPr/>
          <p:nvPr/>
        </p:nvSpPr>
        <p:spPr>
          <a:xfrm>
            <a:off x="4340833" y="3937434"/>
            <a:ext cx="462223"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persistence.</a:t>
            </a:r>
            <a:endParaRPr lang="en-US" sz="600" dirty="0"/>
          </a:p>
        </p:txBody>
      </p:sp>
      <p:sp>
        <p:nvSpPr>
          <p:cNvPr id="46" name="Shape 34"/>
          <p:cNvSpPr/>
          <p:nvPr/>
        </p:nvSpPr>
        <p:spPr>
          <a:xfrm>
            <a:off x="5456374" y="3145929"/>
            <a:ext cx="1483054" cy="1471613"/>
          </a:xfrm>
          <a:prstGeom prst="rect">
            <a:avLst/>
          </a:prstGeom>
          <a:solidFill>
            <a:srgbClr val="FFFFFF"/>
          </a:solidFill>
          <a:ln w="18288">
            <a:solidFill>
              <a:srgbClr val="002244"/>
            </a:solidFill>
            <a:prstDash val="solid"/>
          </a:ln>
        </p:spPr>
      </p:sp>
      <p:pic>
        <p:nvPicPr>
          <p:cNvPr id="47" name="Image 9" descr="preencoded.png">    </p:cNvPr>
          <p:cNvPicPr>
            <a:picLocks noChangeAspect="1"/>
          </p:cNvPicPr>
          <p:nvPr/>
        </p:nvPicPr>
        <p:blipFill>
          <a:blip r:embed="rId10"/>
          <a:stretch>
            <a:fillRect/>
          </a:stretch>
        </p:blipFill>
        <p:spPr>
          <a:xfrm>
            <a:off x="6083573" y="3288804"/>
            <a:ext cx="228600" cy="228600"/>
          </a:xfrm>
          <a:prstGeom prst="rect">
            <a:avLst/>
          </a:prstGeom>
        </p:spPr>
      </p:pic>
      <p:sp>
        <p:nvSpPr>
          <p:cNvPr id="48" name="Text 35"/>
          <p:cNvSpPr/>
          <p:nvPr/>
        </p:nvSpPr>
        <p:spPr>
          <a:xfrm>
            <a:off x="5854917" y="3603129"/>
            <a:ext cx="685912" cy="132159"/>
          </a:xfrm>
          <a:prstGeom prst="rect">
            <a:avLst/>
          </a:prstGeom>
          <a:noFill/>
          <a:ln/>
        </p:spPr>
        <p:txBody>
          <a:bodyPr wrap="none" lIns="0" tIns="0" rIns="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MATPLOTLIB</a:t>
            </a:r>
            <a:endParaRPr lang="en-US" sz="800" dirty="0"/>
          </a:p>
        </p:txBody>
      </p:sp>
      <p:sp>
        <p:nvSpPr>
          <p:cNvPr id="49" name="Text 36"/>
          <p:cNvSpPr/>
          <p:nvPr/>
        </p:nvSpPr>
        <p:spPr>
          <a:xfrm>
            <a:off x="5651878" y="3817441"/>
            <a:ext cx="919702"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Static data visualization</a:t>
            </a:r>
            <a:endParaRPr lang="en-US" sz="600" dirty="0"/>
          </a:p>
        </p:txBody>
      </p:sp>
      <p:sp>
        <p:nvSpPr>
          <p:cNvPr id="50" name="Text 37"/>
          <p:cNvSpPr/>
          <p:nvPr/>
        </p:nvSpPr>
        <p:spPr>
          <a:xfrm>
            <a:off x="6571580" y="3817441"/>
            <a:ext cx="250868"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library.</a:t>
            </a:r>
            <a:endParaRPr lang="en-US" sz="600" dirty="0"/>
          </a:p>
        </p:txBody>
      </p:sp>
      <p:sp>
        <p:nvSpPr>
          <p:cNvPr id="51" name="Shape 38"/>
          <p:cNvSpPr/>
          <p:nvPr/>
        </p:nvSpPr>
        <p:spPr>
          <a:xfrm>
            <a:off x="7082303" y="3145929"/>
            <a:ext cx="1483054" cy="1471613"/>
          </a:xfrm>
          <a:prstGeom prst="rect">
            <a:avLst/>
          </a:prstGeom>
          <a:solidFill>
            <a:srgbClr val="FFFFFF"/>
          </a:solidFill>
          <a:ln w="18288">
            <a:solidFill>
              <a:srgbClr val="002244"/>
            </a:solidFill>
            <a:prstDash val="solid"/>
          </a:ln>
        </p:spPr>
      </p:sp>
      <p:pic>
        <p:nvPicPr>
          <p:cNvPr id="52" name="Image 10" descr="preencoded.png">    </p:cNvPr>
          <p:cNvPicPr>
            <a:picLocks noChangeAspect="1"/>
          </p:cNvPicPr>
          <p:nvPr/>
        </p:nvPicPr>
        <p:blipFill>
          <a:blip r:embed="rId11"/>
          <a:stretch>
            <a:fillRect/>
          </a:stretch>
        </p:blipFill>
        <p:spPr>
          <a:xfrm>
            <a:off x="7709502" y="3245941"/>
            <a:ext cx="228600" cy="228600"/>
          </a:xfrm>
          <a:prstGeom prst="rect">
            <a:avLst/>
          </a:prstGeom>
        </p:spPr>
      </p:pic>
      <p:sp>
        <p:nvSpPr>
          <p:cNvPr id="53" name="Text 39"/>
          <p:cNvSpPr/>
          <p:nvPr/>
        </p:nvSpPr>
        <p:spPr>
          <a:xfrm>
            <a:off x="7583760" y="3560266"/>
            <a:ext cx="480138" cy="132159"/>
          </a:xfrm>
          <a:prstGeom prst="rect">
            <a:avLst/>
          </a:prstGeom>
          <a:noFill/>
          <a:ln/>
        </p:spPr>
        <p:txBody>
          <a:bodyPr wrap="none" lIns="0" tIns="0" rIns="0" bIns="0" rtlCol="0" anchor="t">
            <a:spAutoFit/>
          </a:bodyPr>
          <a:lstStyle/>
          <a:p>
            <a:pPr algn="ctr" indent="0" marL="0">
              <a:buNone/>
            </a:pPr>
            <a:r>
              <a:rPr lang="en-US" sz="800" b="1" dirty="0">
                <a:solidFill>
                  <a:srgbClr val="002244"/>
                </a:solidFill>
                <a:latin typeface="Courier New" pitchFamily="34" charset="0"/>
                <a:ea typeface="Courier New" pitchFamily="34" charset="-122"/>
                <a:cs typeface="Courier New" pitchFamily="34" charset="-120"/>
              </a:rPr>
              <a:t>SEABORN</a:t>
            </a:r>
            <a:endParaRPr lang="en-US" sz="800" dirty="0"/>
          </a:p>
        </p:txBody>
      </p:sp>
      <p:sp>
        <p:nvSpPr>
          <p:cNvPr id="54" name="Text 40"/>
          <p:cNvSpPr/>
          <p:nvPr/>
        </p:nvSpPr>
        <p:spPr>
          <a:xfrm>
            <a:off x="7327032" y="3774579"/>
            <a:ext cx="1072121" cy="96441"/>
          </a:xfrm>
          <a:prstGeom prst="rect">
            <a:avLst/>
          </a:prstGeom>
          <a:noFill/>
          <a:ln/>
        </p:spPr>
        <p:txBody>
          <a:bodyPr wrap="none" lIns="0" tIns="0" rIns="0" bIns="0" rtlCol="0" anchor="t">
            <a:spAutoFit/>
          </a:bodyPr>
          <a:lstStyle/>
          <a:p>
            <a:pPr algn="ctr" indent="0" marL="0">
              <a:lnSpc>
                <a:spcPct val="112000"/>
              </a:lnSpc>
              <a:buNone/>
            </a:pPr>
            <a:r>
              <a:rPr lang="en-US" sz="600" dirty="0">
                <a:solidFill>
                  <a:srgbClr val="333333"/>
                </a:solidFill>
                <a:latin typeface="Segoe UI" pitchFamily="34" charset="0"/>
                <a:ea typeface="Segoe UI" pitchFamily="34" charset="-122"/>
                <a:cs typeface="Segoe UI" pitchFamily="34" charset="-120"/>
              </a:rPr>
              <a:t>Statistical data visualization.</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8644" y="625469"/>
            <a:ext cx="3993356" cy="257175"/>
          </a:xfrm>
          <a:prstGeom prst="rect">
            <a:avLst/>
          </a:prstGeom>
          <a:noFill/>
          <a:ln/>
        </p:spPr>
        <p:txBody>
          <a:bodyPr wrap="square" lIns="0" tIns="0" rIns="0" bIns="0" rtlCol="0" anchor="t">
            <a:spAutoFit/>
          </a:bodyPr>
          <a:lstStyle/>
          <a:p>
            <a:pPr algn="l" indent="0" marL="0">
              <a:buNone/>
            </a:pPr>
            <a:r>
              <a:rPr lang="en-US" sz="1600" b="1" spc="2" kern="0" dirty="0">
                <a:solidFill>
                  <a:srgbClr val="002244"/>
                </a:solidFill>
                <a:latin typeface="Courier New" pitchFamily="34" charset="0"/>
                <a:ea typeface="Courier New" pitchFamily="34" charset="-122"/>
                <a:cs typeface="Courier New" pitchFamily="34" charset="-120"/>
              </a:rPr>
              <a:t>PROJECT RESULTS</a:t>
            </a:r>
            <a:endParaRPr lang="en-US" sz="1600" dirty="0"/>
          </a:p>
        </p:txBody>
      </p:sp>
      <p:sp>
        <p:nvSpPr>
          <p:cNvPr id="5" name="Text 1"/>
          <p:cNvSpPr/>
          <p:nvPr/>
        </p:nvSpPr>
        <p:spPr>
          <a:xfrm>
            <a:off x="578644" y="1011231"/>
            <a:ext cx="3993356" cy="150019"/>
          </a:xfrm>
          <a:prstGeom prst="rect">
            <a:avLst/>
          </a:prstGeom>
          <a:noFill/>
          <a:ln/>
        </p:spPr>
        <p:txBody>
          <a:bodyPr wrap="square" lIns="0" tIns="0" rIns="0" bIns="0" rtlCol="0" anchor="t">
            <a:spAutoFit/>
          </a:bodyPr>
          <a:lstStyle/>
          <a:p>
            <a:pPr algn="l" indent="0" marL="0">
              <a:buNone/>
            </a:pPr>
            <a:r>
              <a:rPr lang="en-US" sz="950" dirty="0">
                <a:solidFill>
                  <a:srgbClr val="666666"/>
                </a:solidFill>
                <a:latin typeface="Segoe UI" pitchFamily="34" charset="0"/>
                <a:ea typeface="Segoe UI" pitchFamily="34" charset="-122"/>
                <a:cs typeface="Segoe UI" pitchFamily="34" charset="-120"/>
              </a:rPr>
              <a:t>Model Performance Metrics</a:t>
            </a:r>
            <a:endParaRPr lang="en-US" sz="950" dirty="0"/>
          </a:p>
        </p:txBody>
      </p:sp>
      <p:sp>
        <p:nvSpPr>
          <p:cNvPr id="6" name="Shape 2"/>
          <p:cNvSpPr/>
          <p:nvPr/>
        </p:nvSpPr>
        <p:spPr>
          <a:xfrm>
            <a:off x="578644" y="1304125"/>
            <a:ext cx="1953816" cy="842963"/>
          </a:xfrm>
          <a:prstGeom prst="rect">
            <a:avLst/>
          </a:prstGeom>
          <a:solidFill>
            <a:srgbClr val="FFFFFF"/>
          </a:solidFill>
          <a:ln w="18288">
            <a:solidFill>
              <a:srgbClr val="002244"/>
            </a:solidFill>
            <a:prstDash val="solid"/>
          </a:ln>
        </p:spPr>
      </p:sp>
      <p:sp>
        <p:nvSpPr>
          <p:cNvPr id="7" name="Text 3"/>
          <p:cNvSpPr/>
          <p:nvPr/>
        </p:nvSpPr>
        <p:spPr>
          <a:xfrm>
            <a:off x="664369" y="1389850"/>
            <a:ext cx="1782366" cy="292894"/>
          </a:xfrm>
          <a:prstGeom prst="rect">
            <a:avLst/>
          </a:prstGeom>
          <a:noFill/>
          <a:ln/>
        </p:spPr>
        <p:txBody>
          <a:bodyPr wrap="square" lIns="0" tIns="0" rIns="0" bIns="0" rtlCol="0" anchor="t">
            <a:spAutoFit/>
          </a:bodyPr>
          <a:lstStyle/>
          <a:p>
            <a:pPr algn="ctr" indent="0" marL="0">
              <a:buNone/>
            </a:pPr>
            <a:r>
              <a:rPr lang="en-US" sz="1800" b="1" dirty="0">
                <a:solidFill>
                  <a:srgbClr val="002244"/>
                </a:solidFill>
                <a:latin typeface="Courier New" pitchFamily="34" charset="0"/>
                <a:ea typeface="Courier New" pitchFamily="34" charset="-122"/>
                <a:cs typeface="Courier New" pitchFamily="34" charset="-120"/>
              </a:rPr>
              <a:t>98.5%</a:t>
            </a:r>
            <a:endParaRPr lang="en-US" sz="1800" dirty="0"/>
          </a:p>
        </p:txBody>
      </p:sp>
      <p:sp>
        <p:nvSpPr>
          <p:cNvPr id="8" name="Text 4"/>
          <p:cNvSpPr/>
          <p:nvPr/>
        </p:nvSpPr>
        <p:spPr>
          <a:xfrm>
            <a:off x="664369" y="1718463"/>
            <a:ext cx="1782366" cy="114300"/>
          </a:xfrm>
          <a:prstGeom prst="rect">
            <a:avLst/>
          </a:prstGeom>
          <a:noFill/>
          <a:ln/>
        </p:spPr>
        <p:txBody>
          <a:bodyPr wrap="square" lIns="0" tIns="0" rIns="0" bIns="0" rtlCol="0" anchor="t">
            <a:spAutoFit/>
          </a:bodyPr>
          <a:lstStyle/>
          <a:p>
            <a:pPr algn="ctr" indent="0" marL="0">
              <a:buNone/>
            </a:pPr>
            <a:r>
              <a:rPr lang="en-US" sz="750" spc="1" kern="0" dirty="0">
                <a:solidFill>
                  <a:srgbClr val="666666"/>
                </a:solidFill>
                <a:latin typeface="Segoe UI" pitchFamily="34" charset="0"/>
                <a:ea typeface="Segoe UI" pitchFamily="34" charset="-122"/>
                <a:cs typeface="Segoe UI" pitchFamily="34" charset="-120"/>
              </a:rPr>
              <a:t>ACCURACY</a:t>
            </a:r>
            <a:endParaRPr lang="en-US" sz="750" dirty="0"/>
          </a:p>
        </p:txBody>
      </p:sp>
      <p:sp>
        <p:nvSpPr>
          <p:cNvPr id="9" name="Shape 5"/>
          <p:cNvSpPr/>
          <p:nvPr/>
        </p:nvSpPr>
        <p:spPr>
          <a:xfrm>
            <a:off x="2618184" y="1304125"/>
            <a:ext cx="1953816" cy="842963"/>
          </a:xfrm>
          <a:prstGeom prst="rect">
            <a:avLst/>
          </a:prstGeom>
          <a:solidFill>
            <a:srgbClr val="FFFFFF"/>
          </a:solidFill>
          <a:ln w="18288">
            <a:solidFill>
              <a:srgbClr val="002244"/>
            </a:solidFill>
            <a:prstDash val="solid"/>
          </a:ln>
        </p:spPr>
      </p:sp>
      <p:sp>
        <p:nvSpPr>
          <p:cNvPr id="10" name="Text 6"/>
          <p:cNvSpPr/>
          <p:nvPr/>
        </p:nvSpPr>
        <p:spPr>
          <a:xfrm>
            <a:off x="2703909" y="1389850"/>
            <a:ext cx="1782366" cy="292894"/>
          </a:xfrm>
          <a:prstGeom prst="rect">
            <a:avLst/>
          </a:prstGeom>
          <a:noFill/>
          <a:ln/>
        </p:spPr>
        <p:txBody>
          <a:bodyPr wrap="square" lIns="0" tIns="0" rIns="0" bIns="0" rtlCol="0" anchor="t">
            <a:spAutoFit/>
          </a:bodyPr>
          <a:lstStyle/>
          <a:p>
            <a:pPr algn="ctr" indent="0" marL="0">
              <a:buNone/>
            </a:pPr>
            <a:r>
              <a:rPr lang="en-US" sz="1800" b="1" dirty="0">
                <a:solidFill>
                  <a:srgbClr val="002244"/>
                </a:solidFill>
                <a:latin typeface="Courier New" pitchFamily="34" charset="0"/>
                <a:ea typeface="Courier New" pitchFamily="34" charset="-122"/>
                <a:cs typeface="Courier New" pitchFamily="34" charset="-120"/>
              </a:rPr>
              <a:t>97.2%</a:t>
            </a:r>
            <a:endParaRPr lang="en-US" sz="1800" dirty="0"/>
          </a:p>
        </p:txBody>
      </p:sp>
      <p:sp>
        <p:nvSpPr>
          <p:cNvPr id="11" name="Text 7"/>
          <p:cNvSpPr/>
          <p:nvPr/>
        </p:nvSpPr>
        <p:spPr>
          <a:xfrm>
            <a:off x="2703909" y="1718463"/>
            <a:ext cx="1782366" cy="114300"/>
          </a:xfrm>
          <a:prstGeom prst="rect">
            <a:avLst/>
          </a:prstGeom>
          <a:noFill/>
          <a:ln/>
        </p:spPr>
        <p:txBody>
          <a:bodyPr wrap="square" lIns="0" tIns="0" rIns="0" bIns="0" rtlCol="0" anchor="t">
            <a:spAutoFit/>
          </a:bodyPr>
          <a:lstStyle/>
          <a:p>
            <a:pPr algn="ctr" indent="0" marL="0">
              <a:buNone/>
            </a:pPr>
            <a:r>
              <a:rPr lang="en-US" sz="750" spc="1" kern="0" dirty="0">
                <a:solidFill>
                  <a:srgbClr val="666666"/>
                </a:solidFill>
                <a:latin typeface="Segoe UI" pitchFamily="34" charset="0"/>
                <a:ea typeface="Segoe UI" pitchFamily="34" charset="-122"/>
                <a:cs typeface="Segoe UI" pitchFamily="34" charset="-120"/>
              </a:rPr>
              <a:t>PRECISION</a:t>
            </a:r>
            <a:endParaRPr lang="en-US" sz="750" dirty="0"/>
          </a:p>
        </p:txBody>
      </p:sp>
      <p:sp>
        <p:nvSpPr>
          <p:cNvPr id="12" name="Shape 8"/>
          <p:cNvSpPr/>
          <p:nvPr/>
        </p:nvSpPr>
        <p:spPr>
          <a:xfrm>
            <a:off x="578644" y="2189950"/>
            <a:ext cx="1953816" cy="842963"/>
          </a:xfrm>
          <a:prstGeom prst="rect">
            <a:avLst/>
          </a:prstGeom>
          <a:solidFill>
            <a:srgbClr val="FFFFFF"/>
          </a:solidFill>
          <a:ln w="18288">
            <a:solidFill>
              <a:srgbClr val="002244"/>
            </a:solidFill>
            <a:prstDash val="solid"/>
          </a:ln>
        </p:spPr>
      </p:sp>
      <p:sp>
        <p:nvSpPr>
          <p:cNvPr id="13" name="Text 9"/>
          <p:cNvSpPr/>
          <p:nvPr/>
        </p:nvSpPr>
        <p:spPr>
          <a:xfrm>
            <a:off x="664369" y="2275675"/>
            <a:ext cx="1782366" cy="292894"/>
          </a:xfrm>
          <a:prstGeom prst="rect">
            <a:avLst/>
          </a:prstGeom>
          <a:noFill/>
          <a:ln/>
        </p:spPr>
        <p:txBody>
          <a:bodyPr wrap="square" lIns="0" tIns="0" rIns="0" bIns="0" rtlCol="0" anchor="t">
            <a:spAutoFit/>
          </a:bodyPr>
          <a:lstStyle/>
          <a:p>
            <a:pPr algn="ctr" indent="0" marL="0">
              <a:buNone/>
            </a:pPr>
            <a:r>
              <a:rPr lang="en-US" sz="1800" b="1" dirty="0">
                <a:solidFill>
                  <a:srgbClr val="002244"/>
                </a:solidFill>
                <a:latin typeface="Courier New" pitchFamily="34" charset="0"/>
                <a:ea typeface="Courier New" pitchFamily="34" charset="-122"/>
                <a:cs typeface="Courier New" pitchFamily="34" charset="-120"/>
              </a:rPr>
              <a:t>94.8%</a:t>
            </a:r>
            <a:endParaRPr lang="en-US" sz="1800" dirty="0"/>
          </a:p>
        </p:txBody>
      </p:sp>
      <p:sp>
        <p:nvSpPr>
          <p:cNvPr id="14" name="Text 10"/>
          <p:cNvSpPr/>
          <p:nvPr/>
        </p:nvSpPr>
        <p:spPr>
          <a:xfrm>
            <a:off x="664369" y="2604288"/>
            <a:ext cx="1782366" cy="114300"/>
          </a:xfrm>
          <a:prstGeom prst="rect">
            <a:avLst/>
          </a:prstGeom>
          <a:noFill/>
          <a:ln/>
        </p:spPr>
        <p:txBody>
          <a:bodyPr wrap="square" lIns="0" tIns="0" rIns="0" bIns="0" rtlCol="0" anchor="t">
            <a:spAutoFit/>
          </a:bodyPr>
          <a:lstStyle/>
          <a:p>
            <a:pPr algn="ctr" indent="0" marL="0">
              <a:buNone/>
            </a:pPr>
            <a:r>
              <a:rPr lang="en-US" sz="750" spc="1" kern="0" dirty="0">
                <a:solidFill>
                  <a:srgbClr val="666666"/>
                </a:solidFill>
                <a:latin typeface="Segoe UI" pitchFamily="34" charset="0"/>
                <a:ea typeface="Segoe UI" pitchFamily="34" charset="-122"/>
                <a:cs typeface="Segoe UI" pitchFamily="34" charset="-120"/>
              </a:rPr>
              <a:t>RECALL</a:t>
            </a:r>
            <a:endParaRPr lang="en-US" sz="750" dirty="0"/>
          </a:p>
        </p:txBody>
      </p:sp>
      <p:sp>
        <p:nvSpPr>
          <p:cNvPr id="15" name="Shape 11"/>
          <p:cNvSpPr/>
          <p:nvPr/>
        </p:nvSpPr>
        <p:spPr>
          <a:xfrm>
            <a:off x="2618184" y="2189950"/>
            <a:ext cx="1953816" cy="842963"/>
          </a:xfrm>
          <a:prstGeom prst="rect">
            <a:avLst/>
          </a:prstGeom>
          <a:solidFill>
            <a:srgbClr val="FFFFFF"/>
          </a:solidFill>
          <a:ln w="18288">
            <a:solidFill>
              <a:srgbClr val="002244"/>
            </a:solidFill>
            <a:prstDash val="solid"/>
          </a:ln>
        </p:spPr>
      </p:sp>
      <p:sp>
        <p:nvSpPr>
          <p:cNvPr id="16" name="Text 12"/>
          <p:cNvSpPr/>
          <p:nvPr/>
        </p:nvSpPr>
        <p:spPr>
          <a:xfrm>
            <a:off x="2703909" y="2275675"/>
            <a:ext cx="1782366" cy="292894"/>
          </a:xfrm>
          <a:prstGeom prst="rect">
            <a:avLst/>
          </a:prstGeom>
          <a:noFill/>
          <a:ln/>
        </p:spPr>
        <p:txBody>
          <a:bodyPr wrap="square" lIns="0" tIns="0" rIns="0" bIns="0" rtlCol="0" anchor="t">
            <a:spAutoFit/>
          </a:bodyPr>
          <a:lstStyle/>
          <a:p>
            <a:pPr algn="ctr" indent="0" marL="0">
              <a:buNone/>
            </a:pPr>
            <a:r>
              <a:rPr lang="en-US" sz="1800" b="1" dirty="0">
                <a:solidFill>
                  <a:srgbClr val="002244"/>
                </a:solidFill>
                <a:latin typeface="Courier New" pitchFamily="34" charset="0"/>
                <a:ea typeface="Courier New" pitchFamily="34" charset="-122"/>
                <a:cs typeface="Courier New" pitchFamily="34" charset="-120"/>
              </a:rPr>
              <a:t>96.0%</a:t>
            </a:r>
            <a:endParaRPr lang="en-US" sz="1800" dirty="0"/>
          </a:p>
        </p:txBody>
      </p:sp>
      <p:sp>
        <p:nvSpPr>
          <p:cNvPr id="17" name="Text 13"/>
          <p:cNvSpPr/>
          <p:nvPr/>
        </p:nvSpPr>
        <p:spPr>
          <a:xfrm>
            <a:off x="2703909" y="2604288"/>
            <a:ext cx="1782366" cy="114300"/>
          </a:xfrm>
          <a:prstGeom prst="rect">
            <a:avLst/>
          </a:prstGeom>
          <a:noFill/>
          <a:ln/>
        </p:spPr>
        <p:txBody>
          <a:bodyPr wrap="square" lIns="0" tIns="0" rIns="0" bIns="0" rtlCol="0" anchor="t">
            <a:spAutoFit/>
          </a:bodyPr>
          <a:lstStyle/>
          <a:p>
            <a:pPr algn="ctr" indent="0" marL="0">
              <a:buNone/>
            </a:pPr>
            <a:r>
              <a:rPr lang="en-US" sz="750" spc="1" kern="0" dirty="0">
                <a:solidFill>
                  <a:srgbClr val="666666"/>
                </a:solidFill>
                <a:latin typeface="Segoe UI" pitchFamily="34" charset="0"/>
                <a:ea typeface="Segoe UI" pitchFamily="34" charset="-122"/>
                <a:cs typeface="Segoe UI" pitchFamily="34" charset="-120"/>
              </a:rPr>
              <a:t>F1 SCORE</a:t>
            </a:r>
            <a:endParaRPr lang="en-US" sz="750" dirty="0"/>
          </a:p>
        </p:txBody>
      </p:sp>
      <p:sp>
        <p:nvSpPr>
          <p:cNvPr id="18" name="Text 14"/>
          <p:cNvSpPr/>
          <p:nvPr/>
        </p:nvSpPr>
        <p:spPr>
          <a:xfrm>
            <a:off x="578644" y="3118638"/>
            <a:ext cx="3993356" cy="114300"/>
          </a:xfrm>
          <a:prstGeom prst="rect">
            <a:avLst/>
          </a:prstGeom>
          <a:noFill/>
          <a:ln/>
        </p:spPr>
        <p:txBody>
          <a:bodyPr wrap="square" lIns="0" tIns="0" rIns="0" bIns="0" rtlCol="0" anchor="t">
            <a:spAutoFit/>
          </a:bodyPr>
          <a:lstStyle/>
          <a:p>
            <a:pPr algn="l" indent="0" marL="0">
              <a:buNone/>
            </a:pPr>
            <a:r>
              <a:rPr lang="en-US" sz="750" i="1" dirty="0">
                <a:solidFill>
                  <a:srgbClr val="666666"/>
                </a:solidFill>
                <a:latin typeface="Segoe UI" pitchFamily="34" charset="0"/>
                <a:ea typeface="Segoe UI" pitchFamily="34" charset="-122"/>
                <a:cs typeface="Segoe UI" pitchFamily="34" charset="-120"/>
              </a:rPr>
              <a:t>* Results verified via 5-fold Cross-Validation and ROC-AUC analysis.</a:t>
            </a:r>
            <a:endParaRPr lang="en-US" sz="750" dirty="0"/>
          </a:p>
        </p:txBody>
      </p:sp>
      <p:sp>
        <p:nvSpPr>
          <p:cNvPr id="19" name="Shape 15"/>
          <p:cNvSpPr/>
          <p:nvPr/>
        </p:nvSpPr>
        <p:spPr>
          <a:xfrm>
            <a:off x="4572000" y="435769"/>
            <a:ext cx="3993356" cy="2743200"/>
          </a:xfrm>
          <a:prstGeom prst="rect">
            <a:avLst/>
          </a:prstGeom>
          <a:solidFill>
            <a:srgbClr val="FFFFFF"/>
          </a:solidFill>
          <a:ln w="18288">
            <a:solidFill>
              <a:srgbClr val="FFD700"/>
            </a:solidFill>
            <a:prstDash val="solid"/>
          </a:ln>
        </p:spPr>
      </p:sp>
      <p:sp>
        <p:nvSpPr>
          <p:cNvPr id="20" name="Text 16"/>
          <p:cNvSpPr/>
          <p:nvPr/>
        </p:nvSpPr>
        <p:spPr>
          <a:xfrm>
            <a:off x="4786313" y="564356"/>
            <a:ext cx="3564731" cy="232172"/>
          </a:xfrm>
          <a:prstGeom prst="rect">
            <a:avLst/>
          </a:prstGeom>
          <a:noFill/>
          <a:ln/>
        </p:spPr>
        <p:txBody>
          <a:bodyPr wrap="square" lIns="0" tIns="0" rIns="0" bIns="68072" rtlCol="0" anchor="t">
            <a:spAutoFit/>
          </a:bodyPr>
          <a:lstStyle/>
          <a:p>
            <a:pPr algn="l" indent="0" marL="0">
              <a:buNone/>
            </a:pPr>
            <a:r>
              <a:rPr lang="en-US" sz="1000" b="1" dirty="0">
                <a:solidFill>
                  <a:srgbClr val="002244"/>
                </a:solidFill>
                <a:latin typeface="Courier New" pitchFamily="34" charset="0"/>
                <a:ea typeface="Courier New" pitchFamily="34" charset="-122"/>
                <a:cs typeface="Courier New" pitchFamily="34" charset="-120"/>
              </a:rPr>
              <a:t>BUSINESS BENEFITS</a:t>
            </a:r>
            <a:endParaRPr lang="en-US" sz="1000" dirty="0"/>
          </a:p>
        </p:txBody>
      </p:sp>
      <p:sp>
        <p:nvSpPr>
          <p:cNvPr id="21" name="Text 17"/>
          <p:cNvSpPr/>
          <p:nvPr/>
        </p:nvSpPr>
        <p:spPr>
          <a:xfrm>
            <a:off x="4943475" y="903684"/>
            <a:ext cx="3407569" cy="342900"/>
          </a:xfrm>
          <a:prstGeom prst="rect">
            <a:avLst/>
          </a:prstGeom>
          <a:noFill/>
          <a:ln/>
        </p:spPr>
        <p:txBody>
          <a:bodyPr wrap="square" lIns="0" tIns="0" rIns="0" bIns="0" rtlCol="0" anchor="t">
            <a:spAutoFit/>
          </a:bodyPr>
          <a:lstStyle/>
          <a:p>
            <a:pPr algn="l" indent="0" marL="0">
              <a:lnSpc>
                <a:spcPct val="120000"/>
              </a:lnSpc>
              <a:buNone/>
            </a:pPr>
            <a:r>
              <a:rPr lang="en-US" sz="800" b="1" dirty="0">
                <a:solidFill>
                  <a:srgbClr val="002244"/>
                </a:solidFill>
                <a:latin typeface="Segoe UI" pitchFamily="34" charset="0"/>
                <a:ea typeface="Segoe UI" pitchFamily="34" charset="-122"/>
                <a:cs typeface="Segoe UI" pitchFamily="34" charset="-120"/>
              </a:rPr>
              <a:t>High Efficiency:</a:t>
            </a:r>
            <a:r>
              <a:rPr lang="en-US" sz="850" dirty="0">
                <a:solidFill>
                  <a:srgbClr val="333333"/>
                </a:solidFill>
                <a:latin typeface="Segoe UI" pitchFamily="34" charset="0"/>
                <a:ea typeface="Segoe UI" pitchFamily="34" charset="-122"/>
                <a:cs typeface="Segoe UI" pitchFamily="34" charset="-120"/>
              </a:rPr>
              <a:t> Sub-second prediction times ensure zero </a:t>
            </a:r>
            <a:r>
              <a:rPr lang="en-US" sz="850" dirty="0">
                <a:solidFill>
                  <a:srgbClr val="333333"/>
                </a:solidFill>
                <a:latin typeface="Segoe UI" pitchFamily="34" charset="0"/>
                <a:ea typeface="Segoe UI" pitchFamily="34" charset="-122"/>
                <a:cs typeface="Segoe UI" pitchFamily="34" charset="-120"/>
              </a:rPr>
              <a:t>latency for end-users.</a:t>
            </a:r>
            <a:endParaRPr lang="en-US" sz="850" dirty="0"/>
          </a:p>
        </p:txBody>
      </p:sp>
      <p:sp>
        <p:nvSpPr>
          <p:cNvPr id="22" name="Text 18"/>
          <p:cNvSpPr/>
          <p:nvPr/>
        </p:nvSpPr>
        <p:spPr>
          <a:xfrm>
            <a:off x="4943475" y="1332309"/>
            <a:ext cx="3407569" cy="342900"/>
          </a:xfrm>
          <a:prstGeom prst="rect">
            <a:avLst/>
          </a:prstGeom>
          <a:noFill/>
          <a:ln/>
        </p:spPr>
        <p:txBody>
          <a:bodyPr wrap="square" lIns="0" tIns="0" rIns="0" bIns="0" rtlCol="0" anchor="t">
            <a:spAutoFit/>
          </a:bodyPr>
          <a:lstStyle/>
          <a:p>
            <a:pPr algn="l" indent="0" marL="0">
              <a:lnSpc>
                <a:spcPct val="120000"/>
              </a:lnSpc>
              <a:buNone/>
            </a:pPr>
            <a:r>
              <a:rPr lang="en-US" sz="800" b="1" dirty="0">
                <a:solidFill>
                  <a:srgbClr val="002244"/>
                </a:solidFill>
                <a:latin typeface="Segoe UI" pitchFamily="34" charset="0"/>
                <a:ea typeface="Segoe UI" pitchFamily="34" charset="-122"/>
                <a:cs typeface="Segoe UI" pitchFamily="34" charset="-120"/>
              </a:rPr>
              <a:t>Scalability:</a:t>
            </a:r>
            <a:r>
              <a:rPr lang="en-US" sz="850" dirty="0">
                <a:solidFill>
                  <a:srgbClr val="333333"/>
                </a:solidFill>
                <a:latin typeface="Segoe UI" pitchFamily="34" charset="0"/>
                <a:ea typeface="Segoe UI" pitchFamily="34" charset="-122"/>
                <a:cs typeface="Segoe UI" pitchFamily="34" charset="-120"/>
              </a:rPr>
              <a:t> Lightweight architecture handles thousands of </a:t>
            </a:r>
            <a:r>
              <a:rPr lang="en-US" sz="850" dirty="0">
                <a:solidFill>
                  <a:srgbClr val="333333"/>
                </a:solidFill>
                <a:latin typeface="Segoe UI" pitchFamily="34" charset="0"/>
                <a:ea typeface="Segoe UI" pitchFamily="34" charset="-122"/>
                <a:cs typeface="Segoe UI" pitchFamily="34" charset="-120"/>
              </a:rPr>
              <a:t>requests with minimal overhead.</a:t>
            </a:r>
            <a:endParaRPr lang="en-US" sz="850" dirty="0"/>
          </a:p>
        </p:txBody>
      </p:sp>
      <p:sp>
        <p:nvSpPr>
          <p:cNvPr id="23" name="Text 19"/>
          <p:cNvSpPr/>
          <p:nvPr/>
        </p:nvSpPr>
        <p:spPr>
          <a:xfrm>
            <a:off x="4943475" y="1760934"/>
            <a:ext cx="3407569" cy="342900"/>
          </a:xfrm>
          <a:prstGeom prst="rect">
            <a:avLst/>
          </a:prstGeom>
          <a:noFill/>
          <a:ln/>
        </p:spPr>
        <p:txBody>
          <a:bodyPr wrap="square" lIns="0" tIns="0" rIns="0" bIns="0" rtlCol="0" anchor="t">
            <a:spAutoFit/>
          </a:bodyPr>
          <a:lstStyle/>
          <a:p>
            <a:pPr algn="l" indent="0" marL="0">
              <a:lnSpc>
                <a:spcPct val="120000"/>
              </a:lnSpc>
              <a:buNone/>
            </a:pPr>
            <a:r>
              <a:rPr lang="en-US" sz="800" b="1" dirty="0">
                <a:solidFill>
                  <a:srgbClr val="002244"/>
                </a:solidFill>
                <a:latin typeface="Segoe UI" pitchFamily="34" charset="0"/>
                <a:ea typeface="Segoe UI" pitchFamily="34" charset="-122"/>
                <a:cs typeface="Segoe UI" pitchFamily="34" charset="-120"/>
              </a:rPr>
              <a:t>User Safety:</a:t>
            </a:r>
            <a:r>
              <a:rPr lang="en-US" sz="850" dirty="0">
                <a:solidFill>
                  <a:srgbClr val="333333"/>
                </a:solidFill>
                <a:latin typeface="Segoe UI" pitchFamily="34" charset="0"/>
                <a:ea typeface="Segoe UI" pitchFamily="34" charset="-122"/>
                <a:cs typeface="Segoe UI" pitchFamily="34" charset="-120"/>
              </a:rPr>
              <a:t> Proactively identifies 95% of spam threats, reducing </a:t>
            </a:r>
            <a:r>
              <a:rPr lang="en-US" sz="850" dirty="0">
                <a:solidFill>
                  <a:srgbClr val="333333"/>
                </a:solidFill>
                <a:latin typeface="Segoe UI" pitchFamily="34" charset="0"/>
                <a:ea typeface="Segoe UI" pitchFamily="34" charset="-122"/>
                <a:cs typeface="Segoe UI" pitchFamily="34" charset="-120"/>
              </a:rPr>
              <a:t>phishing risks.</a:t>
            </a:r>
            <a:endParaRPr lang="en-US" sz="850" dirty="0"/>
          </a:p>
        </p:txBody>
      </p:sp>
      <p:sp>
        <p:nvSpPr>
          <p:cNvPr id="24" name="Text 20"/>
          <p:cNvSpPr/>
          <p:nvPr/>
        </p:nvSpPr>
        <p:spPr>
          <a:xfrm>
            <a:off x="4943475" y="2189559"/>
            <a:ext cx="3407569" cy="342900"/>
          </a:xfrm>
          <a:prstGeom prst="rect">
            <a:avLst/>
          </a:prstGeom>
          <a:noFill/>
          <a:ln/>
        </p:spPr>
        <p:txBody>
          <a:bodyPr wrap="square" lIns="0" tIns="0" rIns="0" bIns="0" rtlCol="0" anchor="t">
            <a:spAutoFit/>
          </a:bodyPr>
          <a:lstStyle/>
          <a:p>
            <a:pPr algn="l" indent="0" marL="0">
              <a:lnSpc>
                <a:spcPct val="120000"/>
              </a:lnSpc>
              <a:buNone/>
            </a:pPr>
            <a:r>
              <a:rPr lang="en-US" sz="800" b="1" dirty="0">
                <a:solidFill>
                  <a:srgbClr val="002244"/>
                </a:solidFill>
                <a:latin typeface="Segoe UI" pitchFamily="34" charset="0"/>
                <a:ea typeface="Segoe UI" pitchFamily="34" charset="-122"/>
                <a:cs typeface="Segoe UI" pitchFamily="34" charset="-120"/>
              </a:rPr>
              <a:t>Easy Deployment:</a:t>
            </a:r>
            <a:r>
              <a:rPr lang="en-US" sz="850" dirty="0">
                <a:solidFill>
                  <a:srgbClr val="333333"/>
                </a:solidFill>
                <a:latin typeface="Segoe UI" pitchFamily="34" charset="0"/>
                <a:ea typeface="Segoe UI" pitchFamily="34" charset="-122"/>
                <a:cs typeface="Segoe UI" pitchFamily="34" charset="-120"/>
              </a:rPr>
              <a:t> Fully containerized design ready for AWS, </a:t>
            </a:r>
            <a:r>
              <a:rPr lang="en-US" sz="850" dirty="0">
                <a:solidFill>
                  <a:srgbClr val="333333"/>
                </a:solidFill>
                <a:latin typeface="Segoe UI" pitchFamily="34" charset="0"/>
                <a:ea typeface="Segoe UI" pitchFamily="34" charset="-122"/>
                <a:cs typeface="Segoe UI" pitchFamily="34" charset="-120"/>
              </a:rPr>
              <a:t>Heroku, or Azure.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8644" y="625469"/>
            <a:ext cx="3707606" cy="257175"/>
          </a:xfrm>
          <a:prstGeom prst="rect">
            <a:avLst/>
          </a:prstGeom>
          <a:noFill/>
          <a:ln/>
        </p:spPr>
        <p:txBody>
          <a:bodyPr wrap="square" lIns="0" tIns="0" rIns="0" bIns="0" rtlCol="0" anchor="t">
            <a:spAutoFit/>
          </a:bodyPr>
          <a:lstStyle/>
          <a:p>
            <a:pPr algn="l" indent="0" marL="0">
              <a:buNone/>
            </a:pPr>
            <a:r>
              <a:rPr lang="en-US" sz="1600" b="1" spc="2" kern="0" dirty="0">
                <a:solidFill>
                  <a:srgbClr val="002244"/>
                </a:solidFill>
                <a:latin typeface="Courier New" pitchFamily="34" charset="0"/>
                <a:ea typeface="Courier New" pitchFamily="34" charset="-122"/>
                <a:cs typeface="Courier New" pitchFamily="34" charset="-120"/>
              </a:rPr>
              <a:t>CHALLENGES</a:t>
            </a:r>
            <a:endParaRPr lang="en-US" sz="1600" dirty="0"/>
          </a:p>
        </p:txBody>
      </p:sp>
      <p:sp>
        <p:nvSpPr>
          <p:cNvPr id="5" name="Text 1"/>
          <p:cNvSpPr/>
          <p:nvPr/>
        </p:nvSpPr>
        <p:spPr>
          <a:xfrm>
            <a:off x="578644" y="1011231"/>
            <a:ext cx="3707606" cy="150019"/>
          </a:xfrm>
          <a:prstGeom prst="rect">
            <a:avLst/>
          </a:prstGeom>
          <a:noFill/>
          <a:ln/>
        </p:spPr>
        <p:txBody>
          <a:bodyPr wrap="square" lIns="0" tIns="0" rIns="0" bIns="0" rtlCol="0" anchor="t">
            <a:spAutoFit/>
          </a:bodyPr>
          <a:lstStyle/>
          <a:p>
            <a:pPr algn="l" indent="0" marL="0">
              <a:buNone/>
            </a:pPr>
            <a:r>
              <a:rPr lang="en-US" sz="950" dirty="0">
                <a:solidFill>
                  <a:srgbClr val="666666"/>
                </a:solidFill>
                <a:latin typeface="Segoe UI" pitchFamily="34" charset="0"/>
                <a:ea typeface="Segoe UI" pitchFamily="34" charset="-122"/>
                <a:cs typeface="Segoe UI" pitchFamily="34" charset="-120"/>
              </a:rPr>
              <a:t>Obstacles Overcome During Development</a:t>
            </a:r>
            <a:endParaRPr lang="en-US" sz="950" dirty="0"/>
          </a:p>
        </p:txBody>
      </p:sp>
      <p:sp>
        <p:nvSpPr>
          <p:cNvPr id="6" name="Shape 2"/>
          <p:cNvSpPr/>
          <p:nvPr/>
        </p:nvSpPr>
        <p:spPr>
          <a:xfrm>
            <a:off x="578644" y="1447000"/>
            <a:ext cx="3707606" cy="3257550"/>
          </a:xfrm>
          <a:prstGeom prst="rect">
            <a:avLst/>
          </a:prstGeom>
          <a:solidFill>
            <a:srgbClr val="FFFFFF"/>
          </a:solidFill>
          <a:ln w="18288">
            <a:solidFill>
              <a:srgbClr val="002244"/>
            </a:solidFill>
            <a:prstDash val="solid"/>
          </a:ln>
        </p:spPr>
      </p:sp>
      <p:pic>
        <p:nvPicPr>
          <p:cNvPr id="7" name="Image 1" descr="preencoded.png">    </p:cNvPr>
          <p:cNvPicPr>
            <a:picLocks noChangeAspect="1"/>
          </p:cNvPicPr>
          <p:nvPr/>
        </p:nvPicPr>
        <p:blipFill>
          <a:blip r:embed="rId2"/>
          <a:stretch>
            <a:fillRect/>
          </a:stretch>
        </p:blipFill>
        <p:spPr>
          <a:xfrm>
            <a:off x="792956" y="1672028"/>
            <a:ext cx="157163" cy="157163"/>
          </a:xfrm>
          <a:prstGeom prst="rect">
            <a:avLst/>
          </a:prstGeom>
        </p:spPr>
      </p:pic>
      <p:sp>
        <p:nvSpPr>
          <p:cNvPr id="8" name="Text 3"/>
          <p:cNvSpPr/>
          <p:nvPr/>
        </p:nvSpPr>
        <p:spPr>
          <a:xfrm>
            <a:off x="1057275" y="1661313"/>
            <a:ext cx="1037462" cy="178594"/>
          </a:xfrm>
          <a:prstGeom prst="rect">
            <a:avLst/>
          </a:prstGeom>
          <a:noFill/>
          <a:ln/>
        </p:spPr>
        <p:txBody>
          <a:bodyPr wrap="none" lIns="0" tIns="0" rIns="0" bIns="0" rtlCol="0" anchor="t">
            <a:spAutoFit/>
          </a:bodyPr>
          <a:lstStyle/>
          <a:p>
            <a:pPr algn="l" indent="0" marL="0">
              <a:buNone/>
            </a:pPr>
            <a:r>
              <a:rPr lang="en-US" sz="1100" b="1" dirty="0">
                <a:solidFill>
                  <a:srgbClr val="002244"/>
                </a:solidFill>
                <a:latin typeface="Courier New" pitchFamily="34" charset="0"/>
                <a:ea typeface="Courier New" pitchFamily="34" charset="-122"/>
                <a:cs typeface="Courier New" pitchFamily="34" charset="-120"/>
              </a:rPr>
              <a:t>KEY HURDLES</a:t>
            </a:r>
            <a:endParaRPr lang="en-US" sz="1100" dirty="0"/>
          </a:p>
        </p:txBody>
      </p:sp>
      <p:sp>
        <p:nvSpPr>
          <p:cNvPr id="9" name="Text 4"/>
          <p:cNvSpPr/>
          <p:nvPr/>
        </p:nvSpPr>
        <p:spPr>
          <a:xfrm>
            <a:off x="971550" y="2018500"/>
            <a:ext cx="3100388" cy="160009"/>
          </a:xfrm>
          <a:prstGeom prst="rect">
            <a:avLst/>
          </a:prstGeom>
          <a:noFill/>
          <a:ln/>
        </p:spPr>
        <p:txBody>
          <a:bodyPr wrap="none" lIns="0" tIns="0" rIns="0" bIns="0" rtlCol="0" anchor="t">
            <a:spAutoFit/>
          </a:bodyPr>
          <a:lstStyle/>
          <a:p>
            <a:pPr algn="l" indent="0" marL="0">
              <a:lnSpc>
                <a:spcPct val="112000"/>
              </a:lnSpc>
              <a:buNone/>
            </a:pPr>
            <a:r>
              <a:rPr lang="en-US" sz="800" b="1" dirty="0">
                <a:solidFill>
                  <a:srgbClr val="002244"/>
                </a:solidFill>
                <a:latin typeface="Segoe UI" pitchFamily="34" charset="0"/>
                <a:ea typeface="Segoe UI" pitchFamily="34" charset="-122"/>
                <a:cs typeface="Segoe UI" pitchFamily="34" charset="-120"/>
              </a:rPr>
              <a:t>Class Imbalance</a:t>
            </a:r>
            <a:endParaRPr lang="en-US" sz="800" dirty="0"/>
          </a:p>
        </p:txBody>
      </p:sp>
      <p:sp>
        <p:nvSpPr>
          <p:cNvPr id="10" name="Text 5"/>
          <p:cNvSpPr/>
          <p:nvPr/>
        </p:nvSpPr>
        <p:spPr>
          <a:xfrm>
            <a:off x="971550" y="2207084"/>
            <a:ext cx="2871732" cy="128588"/>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Addressed by focusing on F1-Score and Precision rather</a:t>
            </a:r>
            <a:endParaRPr lang="en-US" sz="850" dirty="0"/>
          </a:p>
        </p:txBody>
      </p:sp>
      <p:sp>
        <p:nvSpPr>
          <p:cNvPr id="11" name="Text 6"/>
          <p:cNvSpPr/>
          <p:nvPr/>
        </p:nvSpPr>
        <p:spPr>
          <a:xfrm>
            <a:off x="971550" y="2367093"/>
            <a:ext cx="950788" cy="128588"/>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than raw accuracy.</a:t>
            </a:r>
            <a:endParaRPr lang="en-US" sz="850" dirty="0"/>
          </a:p>
        </p:txBody>
      </p:sp>
      <p:sp>
        <p:nvSpPr>
          <p:cNvPr id="12" name="Text 7"/>
          <p:cNvSpPr/>
          <p:nvPr/>
        </p:nvSpPr>
        <p:spPr>
          <a:xfrm>
            <a:off x="971550" y="2641402"/>
            <a:ext cx="3100388" cy="160009"/>
          </a:xfrm>
          <a:prstGeom prst="rect">
            <a:avLst/>
          </a:prstGeom>
          <a:noFill/>
          <a:ln/>
        </p:spPr>
        <p:txBody>
          <a:bodyPr wrap="none" lIns="0" tIns="0" rIns="0" bIns="0" rtlCol="0" anchor="t">
            <a:spAutoFit/>
          </a:bodyPr>
          <a:lstStyle/>
          <a:p>
            <a:pPr algn="l" indent="0" marL="0">
              <a:lnSpc>
                <a:spcPct val="112000"/>
              </a:lnSpc>
              <a:buNone/>
            </a:pPr>
            <a:r>
              <a:rPr lang="en-US" sz="800" b="1" dirty="0">
                <a:solidFill>
                  <a:srgbClr val="002244"/>
                </a:solidFill>
                <a:latin typeface="Segoe UI" pitchFamily="34" charset="0"/>
                <a:ea typeface="Segoe UI" pitchFamily="34" charset="-122"/>
                <a:cs typeface="Segoe UI" pitchFamily="34" charset="-120"/>
              </a:rPr>
              <a:t>Evolving Spam Tactics</a:t>
            </a:r>
            <a:endParaRPr lang="en-US" sz="800" dirty="0"/>
          </a:p>
        </p:txBody>
      </p:sp>
      <p:sp>
        <p:nvSpPr>
          <p:cNvPr id="13" name="Text 8"/>
          <p:cNvSpPr/>
          <p:nvPr/>
        </p:nvSpPr>
        <p:spPr>
          <a:xfrm>
            <a:off x="971550" y="2829985"/>
            <a:ext cx="2882224" cy="128588"/>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Spammers constantly change keywords; required robust</a:t>
            </a:r>
            <a:endParaRPr lang="en-US" sz="850" dirty="0"/>
          </a:p>
        </p:txBody>
      </p:sp>
      <p:sp>
        <p:nvSpPr>
          <p:cNvPr id="14" name="Text 9"/>
          <p:cNvSpPr/>
          <p:nvPr/>
        </p:nvSpPr>
        <p:spPr>
          <a:xfrm>
            <a:off x="971550" y="2829985"/>
            <a:ext cx="3059925" cy="288596"/>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TF-IDF weighting.</a:t>
            </a:r>
            <a:endParaRPr lang="en-US" sz="850" dirty="0"/>
          </a:p>
        </p:txBody>
      </p:sp>
      <p:sp>
        <p:nvSpPr>
          <p:cNvPr id="15" name="Text 10"/>
          <p:cNvSpPr/>
          <p:nvPr/>
        </p:nvSpPr>
        <p:spPr>
          <a:xfrm>
            <a:off x="971550" y="3264303"/>
            <a:ext cx="3100388" cy="160009"/>
          </a:xfrm>
          <a:prstGeom prst="rect">
            <a:avLst/>
          </a:prstGeom>
          <a:noFill/>
          <a:ln/>
        </p:spPr>
        <p:txBody>
          <a:bodyPr wrap="none" lIns="0" tIns="0" rIns="0" bIns="0" rtlCol="0" anchor="t">
            <a:spAutoFit/>
          </a:bodyPr>
          <a:lstStyle/>
          <a:p>
            <a:pPr algn="l" indent="0" marL="0">
              <a:lnSpc>
                <a:spcPct val="112000"/>
              </a:lnSpc>
              <a:buNone/>
            </a:pPr>
            <a:r>
              <a:rPr lang="en-US" sz="800" b="1" dirty="0">
                <a:solidFill>
                  <a:srgbClr val="002244"/>
                </a:solidFill>
                <a:latin typeface="Segoe UI" pitchFamily="34" charset="0"/>
                <a:ea typeface="Segoe UI" pitchFamily="34" charset="-122"/>
                <a:cs typeface="Segoe UI" pitchFamily="34" charset="-120"/>
              </a:rPr>
              <a:t>Model Overfitting</a:t>
            </a:r>
            <a:endParaRPr lang="en-US" sz="800" dirty="0"/>
          </a:p>
        </p:txBody>
      </p:sp>
      <p:sp>
        <p:nvSpPr>
          <p:cNvPr id="16" name="Text 11"/>
          <p:cNvSpPr/>
          <p:nvPr/>
        </p:nvSpPr>
        <p:spPr>
          <a:xfrm>
            <a:off x="971550" y="3452887"/>
            <a:ext cx="2348731" cy="128588"/>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Managed through K-Fold Cross-Validation and</a:t>
            </a:r>
            <a:endParaRPr lang="en-US" sz="850" dirty="0"/>
          </a:p>
        </p:txBody>
      </p:sp>
      <p:sp>
        <p:nvSpPr>
          <p:cNvPr id="17" name="Text 12"/>
          <p:cNvSpPr/>
          <p:nvPr/>
        </p:nvSpPr>
        <p:spPr>
          <a:xfrm>
            <a:off x="971550" y="3612896"/>
            <a:ext cx="1423057" cy="128588"/>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hyperparameter constraints.</a:t>
            </a:r>
            <a:endParaRPr lang="en-US" sz="850" dirty="0"/>
          </a:p>
        </p:txBody>
      </p:sp>
      <p:sp>
        <p:nvSpPr>
          <p:cNvPr id="18" name="Text 13"/>
          <p:cNvSpPr/>
          <p:nvPr/>
        </p:nvSpPr>
        <p:spPr>
          <a:xfrm>
            <a:off x="971550" y="3887205"/>
            <a:ext cx="3100388" cy="160009"/>
          </a:xfrm>
          <a:prstGeom prst="rect">
            <a:avLst/>
          </a:prstGeom>
          <a:noFill/>
          <a:ln/>
        </p:spPr>
        <p:txBody>
          <a:bodyPr wrap="none" lIns="0" tIns="0" rIns="0" bIns="0" rtlCol="0" anchor="t">
            <a:spAutoFit/>
          </a:bodyPr>
          <a:lstStyle/>
          <a:p>
            <a:pPr algn="l" indent="0" marL="0">
              <a:lnSpc>
                <a:spcPct val="112000"/>
              </a:lnSpc>
              <a:buNone/>
            </a:pPr>
            <a:r>
              <a:rPr lang="en-US" sz="800" b="1" dirty="0">
                <a:solidFill>
                  <a:srgbClr val="002244"/>
                </a:solidFill>
                <a:latin typeface="Segoe UI" pitchFamily="34" charset="0"/>
                <a:ea typeface="Segoe UI" pitchFamily="34" charset="-122"/>
                <a:cs typeface="Segoe UI" pitchFamily="34" charset="-120"/>
              </a:rPr>
              <a:t>Deployment Latency</a:t>
            </a:r>
            <a:endParaRPr lang="en-US" sz="800" dirty="0"/>
          </a:p>
        </p:txBody>
      </p:sp>
      <p:sp>
        <p:nvSpPr>
          <p:cNvPr id="19" name="Text 14"/>
          <p:cNvSpPr/>
          <p:nvPr/>
        </p:nvSpPr>
        <p:spPr>
          <a:xfrm>
            <a:off x="971550" y="4075788"/>
            <a:ext cx="2821000" cy="128588"/>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Optimized preprocessing pipeline to ensure sub-second</a:t>
            </a:r>
            <a:endParaRPr lang="en-US" sz="850" dirty="0"/>
          </a:p>
        </p:txBody>
      </p:sp>
      <p:sp>
        <p:nvSpPr>
          <p:cNvPr id="20" name="Text 15"/>
          <p:cNvSpPr/>
          <p:nvPr/>
        </p:nvSpPr>
        <p:spPr>
          <a:xfrm>
            <a:off x="971550" y="4235797"/>
            <a:ext cx="501960" cy="128588"/>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inference.</a:t>
            </a:r>
            <a:endParaRPr lang="en-US" sz="850" dirty="0"/>
          </a:p>
        </p:txBody>
      </p:sp>
      <p:sp>
        <p:nvSpPr>
          <p:cNvPr id="21" name="Text 16"/>
          <p:cNvSpPr/>
          <p:nvPr/>
        </p:nvSpPr>
        <p:spPr>
          <a:xfrm>
            <a:off x="4857750" y="625469"/>
            <a:ext cx="3707606" cy="257175"/>
          </a:xfrm>
          <a:prstGeom prst="rect">
            <a:avLst/>
          </a:prstGeom>
          <a:noFill/>
          <a:ln/>
        </p:spPr>
        <p:txBody>
          <a:bodyPr wrap="square" lIns="0" tIns="0" rIns="0" bIns="0" rtlCol="0" anchor="t">
            <a:spAutoFit/>
          </a:bodyPr>
          <a:lstStyle/>
          <a:p>
            <a:pPr algn="l" indent="0" marL="0">
              <a:buNone/>
            </a:pPr>
            <a:r>
              <a:rPr lang="en-US" sz="1600" b="1" spc="2" kern="0" dirty="0">
                <a:solidFill>
                  <a:srgbClr val="002244"/>
                </a:solidFill>
                <a:latin typeface="Courier New" pitchFamily="34" charset="0"/>
                <a:ea typeface="Courier New" pitchFamily="34" charset="-122"/>
                <a:cs typeface="Courier New" pitchFamily="34" charset="-120"/>
              </a:rPr>
              <a:t>FUTURE ROADMAP</a:t>
            </a:r>
            <a:endParaRPr lang="en-US" sz="1600" dirty="0"/>
          </a:p>
        </p:txBody>
      </p:sp>
      <p:sp>
        <p:nvSpPr>
          <p:cNvPr id="22" name="Text 17"/>
          <p:cNvSpPr/>
          <p:nvPr/>
        </p:nvSpPr>
        <p:spPr>
          <a:xfrm>
            <a:off x="4857750" y="1011231"/>
            <a:ext cx="3707606" cy="150019"/>
          </a:xfrm>
          <a:prstGeom prst="rect">
            <a:avLst/>
          </a:prstGeom>
          <a:noFill/>
          <a:ln/>
        </p:spPr>
        <p:txBody>
          <a:bodyPr wrap="square" lIns="0" tIns="0" rIns="0" bIns="0" rtlCol="0" anchor="t">
            <a:spAutoFit/>
          </a:bodyPr>
          <a:lstStyle/>
          <a:p>
            <a:pPr algn="l" indent="0" marL="0">
              <a:buNone/>
            </a:pPr>
            <a:r>
              <a:rPr lang="en-US" sz="950" dirty="0">
                <a:solidFill>
                  <a:srgbClr val="666666"/>
                </a:solidFill>
                <a:latin typeface="Segoe UI" pitchFamily="34" charset="0"/>
                <a:ea typeface="Segoe UI" pitchFamily="34" charset="-122"/>
                <a:cs typeface="Segoe UI" pitchFamily="34" charset="-120"/>
              </a:rPr>
              <a:t>Scaling and Enhancing the System</a:t>
            </a:r>
            <a:endParaRPr lang="en-US" sz="950" dirty="0"/>
          </a:p>
        </p:txBody>
      </p:sp>
      <p:sp>
        <p:nvSpPr>
          <p:cNvPr id="23" name="Shape 18"/>
          <p:cNvSpPr/>
          <p:nvPr/>
        </p:nvSpPr>
        <p:spPr>
          <a:xfrm>
            <a:off x="4857750" y="1447000"/>
            <a:ext cx="3707606" cy="3257550"/>
          </a:xfrm>
          <a:prstGeom prst="rect">
            <a:avLst/>
          </a:prstGeom>
          <a:solidFill>
            <a:srgbClr val="FFFFFF"/>
          </a:solidFill>
          <a:ln w="18288">
            <a:solidFill>
              <a:srgbClr val="FFD700"/>
            </a:solidFill>
            <a:prstDash val="solid"/>
          </a:ln>
        </p:spPr>
      </p:sp>
      <p:pic>
        <p:nvPicPr>
          <p:cNvPr id="24" name="Image 2" descr="preencoded.png">    </p:cNvPr>
          <p:cNvPicPr>
            <a:picLocks noChangeAspect="1"/>
          </p:cNvPicPr>
          <p:nvPr/>
        </p:nvPicPr>
        <p:blipFill>
          <a:blip r:embed="rId3"/>
          <a:stretch>
            <a:fillRect/>
          </a:stretch>
        </p:blipFill>
        <p:spPr>
          <a:xfrm>
            <a:off x="5072063" y="1672028"/>
            <a:ext cx="178594" cy="157163"/>
          </a:xfrm>
          <a:prstGeom prst="rect">
            <a:avLst/>
          </a:prstGeom>
        </p:spPr>
      </p:pic>
      <p:sp>
        <p:nvSpPr>
          <p:cNvPr id="25" name="Text 19"/>
          <p:cNvSpPr/>
          <p:nvPr/>
        </p:nvSpPr>
        <p:spPr>
          <a:xfrm>
            <a:off x="5357813" y="1661313"/>
            <a:ext cx="943142" cy="178594"/>
          </a:xfrm>
          <a:prstGeom prst="rect">
            <a:avLst/>
          </a:prstGeom>
          <a:noFill/>
          <a:ln/>
        </p:spPr>
        <p:txBody>
          <a:bodyPr wrap="none" lIns="0" tIns="0" rIns="0" bIns="0" rtlCol="0" anchor="t">
            <a:spAutoFit/>
          </a:bodyPr>
          <a:lstStyle/>
          <a:p>
            <a:pPr algn="l" indent="0" marL="0">
              <a:buNone/>
            </a:pPr>
            <a:r>
              <a:rPr lang="en-US" sz="1100" b="1" dirty="0">
                <a:solidFill>
                  <a:srgbClr val="002244"/>
                </a:solidFill>
                <a:latin typeface="Courier New" pitchFamily="34" charset="0"/>
                <a:ea typeface="Courier New" pitchFamily="34" charset="-122"/>
                <a:cs typeface="Courier New" pitchFamily="34" charset="-120"/>
              </a:rPr>
              <a:t>NEXT STEPS</a:t>
            </a:r>
            <a:endParaRPr lang="en-US" sz="1100" dirty="0"/>
          </a:p>
        </p:txBody>
      </p:sp>
      <p:sp>
        <p:nvSpPr>
          <p:cNvPr id="26" name="Text 20"/>
          <p:cNvSpPr/>
          <p:nvPr/>
        </p:nvSpPr>
        <p:spPr>
          <a:xfrm>
            <a:off x="5250656" y="2018500"/>
            <a:ext cx="3100388" cy="160009"/>
          </a:xfrm>
          <a:prstGeom prst="rect">
            <a:avLst/>
          </a:prstGeom>
          <a:noFill/>
          <a:ln/>
        </p:spPr>
        <p:txBody>
          <a:bodyPr wrap="none" lIns="0" tIns="0" rIns="0" bIns="0" rtlCol="0" anchor="t">
            <a:spAutoFit/>
          </a:bodyPr>
          <a:lstStyle/>
          <a:p>
            <a:pPr algn="l" indent="0" marL="0">
              <a:lnSpc>
                <a:spcPct val="112000"/>
              </a:lnSpc>
              <a:buNone/>
            </a:pPr>
            <a:r>
              <a:rPr lang="en-US" sz="800" b="1" dirty="0">
                <a:solidFill>
                  <a:srgbClr val="002244"/>
                </a:solidFill>
                <a:latin typeface="Segoe UI" pitchFamily="34" charset="0"/>
                <a:ea typeface="Segoe UI" pitchFamily="34" charset="-122"/>
                <a:cs typeface="Segoe UI" pitchFamily="34" charset="-120"/>
              </a:rPr>
              <a:t>Deep Learning Integration</a:t>
            </a:r>
            <a:endParaRPr lang="en-US" sz="800" dirty="0"/>
          </a:p>
        </p:txBody>
      </p:sp>
      <p:sp>
        <p:nvSpPr>
          <p:cNvPr id="27" name="Text 21"/>
          <p:cNvSpPr/>
          <p:nvPr/>
        </p:nvSpPr>
        <p:spPr>
          <a:xfrm>
            <a:off x="5250656" y="2207084"/>
            <a:ext cx="2846170" cy="128588"/>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Implementing BERT or RoBERTa for superior contextual</a:t>
            </a:r>
            <a:endParaRPr lang="en-US" sz="850" dirty="0"/>
          </a:p>
        </p:txBody>
      </p:sp>
      <p:sp>
        <p:nvSpPr>
          <p:cNvPr id="28" name="Text 22"/>
          <p:cNvSpPr/>
          <p:nvPr/>
        </p:nvSpPr>
        <p:spPr>
          <a:xfrm>
            <a:off x="5250656" y="2367093"/>
            <a:ext cx="756233" cy="128588"/>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understanding.</a:t>
            </a:r>
            <a:endParaRPr lang="en-US" sz="850" dirty="0"/>
          </a:p>
        </p:txBody>
      </p:sp>
      <p:sp>
        <p:nvSpPr>
          <p:cNvPr id="29" name="Text 23"/>
          <p:cNvSpPr/>
          <p:nvPr/>
        </p:nvSpPr>
        <p:spPr>
          <a:xfrm>
            <a:off x="5250656" y="2641402"/>
            <a:ext cx="3100388" cy="160009"/>
          </a:xfrm>
          <a:prstGeom prst="rect">
            <a:avLst/>
          </a:prstGeom>
          <a:noFill/>
          <a:ln/>
        </p:spPr>
        <p:txBody>
          <a:bodyPr wrap="none" lIns="0" tIns="0" rIns="0" bIns="0" rtlCol="0" anchor="t">
            <a:spAutoFit/>
          </a:bodyPr>
          <a:lstStyle/>
          <a:p>
            <a:pPr algn="l" indent="0" marL="0">
              <a:lnSpc>
                <a:spcPct val="112000"/>
              </a:lnSpc>
              <a:buNone/>
            </a:pPr>
            <a:r>
              <a:rPr lang="en-US" sz="800" b="1" dirty="0">
                <a:solidFill>
                  <a:srgbClr val="002244"/>
                </a:solidFill>
                <a:latin typeface="Segoe UI" pitchFamily="34" charset="0"/>
                <a:ea typeface="Segoe UI" pitchFamily="34" charset="-122"/>
                <a:cs typeface="Segoe UI" pitchFamily="34" charset="-120"/>
              </a:rPr>
              <a:t>LLM Reasoning</a:t>
            </a:r>
            <a:endParaRPr lang="en-US" sz="800" dirty="0"/>
          </a:p>
        </p:txBody>
      </p:sp>
      <p:sp>
        <p:nvSpPr>
          <p:cNvPr id="30" name="Text 24"/>
          <p:cNvSpPr/>
          <p:nvPr/>
        </p:nvSpPr>
        <p:spPr>
          <a:xfrm>
            <a:off x="5250656" y="2829985"/>
            <a:ext cx="2929272" cy="128588"/>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Using Large Language Models to provide explanations for</a:t>
            </a:r>
            <a:endParaRPr lang="en-US" sz="850" dirty="0"/>
          </a:p>
        </p:txBody>
      </p:sp>
      <p:sp>
        <p:nvSpPr>
          <p:cNvPr id="31" name="Text 25"/>
          <p:cNvSpPr/>
          <p:nvPr/>
        </p:nvSpPr>
        <p:spPr>
          <a:xfrm>
            <a:off x="5250656" y="2989994"/>
            <a:ext cx="806909" cy="128588"/>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spam detection.</a:t>
            </a:r>
            <a:endParaRPr lang="en-US" sz="850" dirty="0"/>
          </a:p>
        </p:txBody>
      </p:sp>
      <p:sp>
        <p:nvSpPr>
          <p:cNvPr id="32" name="Text 26"/>
          <p:cNvSpPr/>
          <p:nvPr/>
        </p:nvSpPr>
        <p:spPr>
          <a:xfrm>
            <a:off x="5250656" y="3264303"/>
            <a:ext cx="3100388" cy="160009"/>
          </a:xfrm>
          <a:prstGeom prst="rect">
            <a:avLst/>
          </a:prstGeom>
          <a:noFill/>
          <a:ln/>
        </p:spPr>
        <p:txBody>
          <a:bodyPr wrap="none" lIns="0" tIns="0" rIns="0" bIns="0" rtlCol="0" anchor="t">
            <a:spAutoFit/>
          </a:bodyPr>
          <a:lstStyle/>
          <a:p>
            <a:pPr algn="l" indent="0" marL="0">
              <a:lnSpc>
                <a:spcPct val="112000"/>
              </a:lnSpc>
              <a:buNone/>
            </a:pPr>
            <a:r>
              <a:rPr lang="en-US" sz="800" b="1" dirty="0">
                <a:solidFill>
                  <a:srgbClr val="002244"/>
                </a:solidFill>
                <a:latin typeface="Segoe UI" pitchFamily="34" charset="0"/>
                <a:ea typeface="Segoe UI" pitchFamily="34" charset="-122"/>
                <a:cs typeface="Segoe UI" pitchFamily="34" charset="-120"/>
              </a:rPr>
              <a:t>DevOps &amp; MLOps</a:t>
            </a:r>
            <a:endParaRPr lang="en-US" sz="800" dirty="0"/>
          </a:p>
        </p:txBody>
      </p:sp>
      <p:sp>
        <p:nvSpPr>
          <p:cNvPr id="33" name="Text 27"/>
          <p:cNvSpPr/>
          <p:nvPr/>
        </p:nvSpPr>
        <p:spPr>
          <a:xfrm>
            <a:off x="5250656" y="3452887"/>
            <a:ext cx="3049544" cy="128588"/>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Implementing Docker containerization and automated CI/CD</a:t>
            </a:r>
            <a:endParaRPr lang="en-US" sz="850" dirty="0"/>
          </a:p>
        </p:txBody>
      </p:sp>
      <p:sp>
        <p:nvSpPr>
          <p:cNvPr id="34" name="Text 28"/>
          <p:cNvSpPr/>
          <p:nvPr/>
        </p:nvSpPr>
        <p:spPr>
          <a:xfrm>
            <a:off x="5250656" y="3612896"/>
            <a:ext cx="482929" cy="128588"/>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pipelines.</a:t>
            </a:r>
            <a:endParaRPr lang="en-US" sz="850" dirty="0"/>
          </a:p>
        </p:txBody>
      </p:sp>
      <p:sp>
        <p:nvSpPr>
          <p:cNvPr id="35" name="Text 29"/>
          <p:cNvSpPr/>
          <p:nvPr/>
        </p:nvSpPr>
        <p:spPr>
          <a:xfrm>
            <a:off x="5250656" y="3887205"/>
            <a:ext cx="3100388" cy="160009"/>
          </a:xfrm>
          <a:prstGeom prst="rect">
            <a:avLst/>
          </a:prstGeom>
          <a:noFill/>
          <a:ln/>
        </p:spPr>
        <p:txBody>
          <a:bodyPr wrap="none" lIns="0" tIns="0" rIns="0" bIns="0" rtlCol="0" anchor="t">
            <a:spAutoFit/>
          </a:bodyPr>
          <a:lstStyle/>
          <a:p>
            <a:pPr algn="l" indent="0" marL="0">
              <a:lnSpc>
                <a:spcPct val="112000"/>
              </a:lnSpc>
              <a:buNone/>
            </a:pPr>
            <a:r>
              <a:rPr lang="en-US" sz="800" b="1" dirty="0">
                <a:solidFill>
                  <a:srgbClr val="002244"/>
                </a:solidFill>
                <a:latin typeface="Segoe UI" pitchFamily="34" charset="0"/>
                <a:ea typeface="Segoe UI" pitchFamily="34" charset="-122"/>
                <a:cs typeface="Segoe UI" pitchFamily="34" charset="-120"/>
              </a:rPr>
              <a:t>Mobile Application</a:t>
            </a:r>
            <a:endParaRPr lang="en-US" sz="800" dirty="0"/>
          </a:p>
        </p:txBody>
      </p:sp>
      <p:sp>
        <p:nvSpPr>
          <p:cNvPr id="36" name="Text 30"/>
          <p:cNvSpPr/>
          <p:nvPr/>
        </p:nvSpPr>
        <p:spPr>
          <a:xfrm>
            <a:off x="5250656" y="4075788"/>
            <a:ext cx="2763515" cy="128588"/>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Developing a native mobile interface for real-time SMS</a:t>
            </a:r>
            <a:endParaRPr lang="en-US" sz="850" dirty="0"/>
          </a:p>
        </p:txBody>
      </p:sp>
      <p:sp>
        <p:nvSpPr>
          <p:cNvPr id="37" name="Text 31"/>
          <p:cNvSpPr/>
          <p:nvPr/>
        </p:nvSpPr>
        <p:spPr>
          <a:xfrm>
            <a:off x="5250656" y="4235797"/>
            <a:ext cx="400217" cy="128588"/>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333333"/>
                </a:solidFill>
                <a:latin typeface="Segoe UI" pitchFamily="34" charset="0"/>
                <a:ea typeface="Segoe UI" pitchFamily="34" charset="-122"/>
                <a:cs typeface="Segoe UI" pitchFamily="34" charset="-120"/>
              </a:rPr>
              <a:t>filtering.</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8644" y="649188"/>
            <a:ext cx="4792005" cy="292894"/>
          </a:xfrm>
          <a:prstGeom prst="rect">
            <a:avLst/>
          </a:prstGeom>
          <a:noFill/>
          <a:ln/>
        </p:spPr>
        <p:txBody>
          <a:bodyPr wrap="square" lIns="0" tIns="0" rIns="0" bIns="0" rtlCol="0" anchor="t">
            <a:spAutoFit/>
          </a:bodyPr>
          <a:lstStyle/>
          <a:p>
            <a:pPr algn="l" indent="0" marL="0">
              <a:buNone/>
            </a:pPr>
            <a:r>
              <a:rPr lang="en-US" sz="1800" b="1" spc="2" kern="0" dirty="0">
                <a:solidFill>
                  <a:srgbClr val="002244"/>
                </a:solidFill>
                <a:latin typeface="Courier New" pitchFamily="34" charset="0"/>
                <a:ea typeface="Courier New" pitchFamily="34" charset="-122"/>
                <a:cs typeface="Courier New" pitchFamily="34" charset="-120"/>
              </a:rPr>
              <a:t>CONCLUSION</a:t>
            </a:r>
            <a:endParaRPr lang="en-US" sz="1800" dirty="0"/>
          </a:p>
        </p:txBody>
      </p:sp>
      <p:sp>
        <p:nvSpPr>
          <p:cNvPr id="5" name="Text 1"/>
          <p:cNvSpPr/>
          <p:nvPr/>
        </p:nvSpPr>
        <p:spPr>
          <a:xfrm>
            <a:off x="578644" y="1084957"/>
            <a:ext cx="4792005" cy="160734"/>
          </a:xfrm>
          <a:prstGeom prst="rect">
            <a:avLst/>
          </a:prstGeom>
          <a:noFill/>
          <a:ln/>
        </p:spPr>
        <p:txBody>
          <a:bodyPr wrap="square" lIns="0" tIns="0" rIns="0" bIns="0" rtlCol="0" anchor="t">
            <a:spAutoFit/>
          </a:bodyPr>
          <a:lstStyle/>
          <a:p>
            <a:pPr algn="l" indent="0" marL="0">
              <a:buNone/>
            </a:pPr>
            <a:r>
              <a:rPr lang="en-US" sz="1050" dirty="0">
                <a:solidFill>
                  <a:srgbClr val="666666"/>
                </a:solidFill>
                <a:latin typeface="Segoe UI" pitchFamily="34" charset="0"/>
                <a:ea typeface="Segoe UI" pitchFamily="34" charset="-122"/>
                <a:cs typeface="Segoe UI" pitchFamily="34" charset="-120"/>
              </a:rPr>
              <a:t>Summarizing Achievements &amp; Key Takeaways</a:t>
            </a:r>
            <a:endParaRPr lang="en-US" sz="1050" dirty="0"/>
          </a:p>
        </p:txBody>
      </p:sp>
      <p:sp>
        <p:nvSpPr>
          <p:cNvPr id="6" name="Text 2"/>
          <p:cNvSpPr/>
          <p:nvPr/>
        </p:nvSpPr>
        <p:spPr>
          <a:xfrm>
            <a:off x="578644" y="1531441"/>
            <a:ext cx="4792005" cy="160734"/>
          </a:xfrm>
          <a:prstGeom prst="rect">
            <a:avLst/>
          </a:prstGeom>
          <a:noFill/>
          <a:ln/>
        </p:spPr>
        <p:txBody>
          <a:bodyPr wrap="square" lIns="0" tIns="0" rIns="0" bIns="0" rtlCol="0" anchor="t">
            <a:spAutoFit/>
          </a:bodyPr>
          <a:lstStyle/>
          <a:p>
            <a:pPr algn="l" indent="0" marL="0">
              <a:buNone/>
            </a:pPr>
            <a:r>
              <a:rPr lang="en-US" sz="1000" b="1" u="sng" dirty="0">
                <a:solidFill>
                  <a:srgbClr val="002244"/>
                </a:solidFill>
                <a:uFill>
                  <a:solidFill>
                    <a:srgbClr val="002244"/>
                  </a:solidFill>
                </a:uFill>
                <a:latin typeface="Courier New" pitchFamily="34" charset="0"/>
                <a:ea typeface="Courier New" pitchFamily="34" charset="-122"/>
                <a:cs typeface="Courier New" pitchFamily="34" charset="-120"/>
              </a:rPr>
              <a:t>PROJECT IMPACT</a:t>
            </a:r>
            <a:endParaRPr lang="en-US" sz="1000" dirty="0"/>
          </a:p>
        </p:txBody>
      </p:sp>
      <p:sp>
        <p:nvSpPr>
          <p:cNvPr id="7" name="Text 3"/>
          <p:cNvSpPr/>
          <p:nvPr/>
        </p:nvSpPr>
        <p:spPr>
          <a:xfrm>
            <a:off x="757238" y="1835051"/>
            <a:ext cx="4088457" cy="150019"/>
          </a:xfrm>
          <a:prstGeom prst="rect">
            <a:avLst/>
          </a:prstGeom>
          <a:noFill/>
          <a:ln/>
        </p:spPr>
        <p:txBody>
          <a:bodyPr wrap="square" lIns="0" tIns="0" rIns="0" bIns="0" rtlCol="0" anchor="t">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Developed a high-accuracy (98.5%) deployable spam detection system.</a:t>
            </a:r>
            <a:endParaRPr lang="en-US" sz="950" dirty="0"/>
          </a:p>
        </p:txBody>
      </p:sp>
      <p:sp>
        <p:nvSpPr>
          <p:cNvPr id="8" name="Text 4"/>
          <p:cNvSpPr/>
          <p:nvPr/>
        </p:nvSpPr>
        <p:spPr>
          <a:xfrm>
            <a:off x="757238" y="2092226"/>
            <a:ext cx="4169718" cy="150019"/>
          </a:xfrm>
          <a:prstGeom prst="rect">
            <a:avLst/>
          </a:prstGeom>
          <a:noFill/>
          <a:ln/>
        </p:spPr>
        <p:txBody>
          <a:bodyPr wrap="square" lIns="0" tIns="0" rIns="0" bIns="0" rtlCol="0" anchor="t">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Successfully bridged the gap between ML research and web deployment.</a:t>
            </a:r>
            <a:endParaRPr lang="en-US" sz="950" dirty="0"/>
          </a:p>
        </p:txBody>
      </p:sp>
      <p:sp>
        <p:nvSpPr>
          <p:cNvPr id="9" name="Text 5"/>
          <p:cNvSpPr/>
          <p:nvPr/>
        </p:nvSpPr>
        <p:spPr>
          <a:xfrm>
            <a:off x="578644" y="2527995"/>
            <a:ext cx="4792005" cy="160734"/>
          </a:xfrm>
          <a:prstGeom prst="rect">
            <a:avLst/>
          </a:prstGeom>
          <a:noFill/>
          <a:ln/>
        </p:spPr>
        <p:txBody>
          <a:bodyPr wrap="square" lIns="0" tIns="0" rIns="0" bIns="0" rtlCol="0" anchor="t">
            <a:spAutoFit/>
          </a:bodyPr>
          <a:lstStyle/>
          <a:p>
            <a:pPr algn="l" indent="0" marL="0">
              <a:buNone/>
            </a:pPr>
            <a:r>
              <a:rPr lang="en-US" sz="1000" b="1" u="sng" dirty="0">
                <a:solidFill>
                  <a:srgbClr val="002244"/>
                </a:solidFill>
                <a:uFill>
                  <a:solidFill>
                    <a:srgbClr val="002244"/>
                  </a:solidFill>
                </a:uFill>
                <a:latin typeface="Courier New" pitchFamily="34" charset="0"/>
                <a:ea typeface="Courier New" pitchFamily="34" charset="-122"/>
                <a:cs typeface="Courier New" pitchFamily="34" charset="-120"/>
              </a:rPr>
              <a:t>SKILLS ACQUIRED</a:t>
            </a:r>
            <a:endParaRPr lang="en-US" sz="1000" dirty="0"/>
          </a:p>
        </p:txBody>
      </p:sp>
      <p:sp>
        <p:nvSpPr>
          <p:cNvPr id="10" name="Text 6"/>
          <p:cNvSpPr/>
          <p:nvPr/>
        </p:nvSpPr>
        <p:spPr>
          <a:xfrm>
            <a:off x="757238" y="2831604"/>
            <a:ext cx="3349805" cy="150019"/>
          </a:xfrm>
          <a:prstGeom prst="rect">
            <a:avLst/>
          </a:prstGeom>
          <a:noFill/>
          <a:ln/>
        </p:spPr>
        <p:txBody>
          <a:bodyPr wrap="square" lIns="0" tIns="0" rIns="0" bIns="0" rtlCol="0" anchor="t">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Natural Language Processing (NLP) &amp; Text Preprocessing.</a:t>
            </a:r>
            <a:endParaRPr lang="en-US" sz="950" dirty="0"/>
          </a:p>
        </p:txBody>
      </p:sp>
      <p:sp>
        <p:nvSpPr>
          <p:cNvPr id="11" name="Text 7"/>
          <p:cNvSpPr/>
          <p:nvPr/>
        </p:nvSpPr>
        <p:spPr>
          <a:xfrm>
            <a:off x="757238" y="3088779"/>
            <a:ext cx="3435195" cy="150019"/>
          </a:xfrm>
          <a:prstGeom prst="rect">
            <a:avLst/>
          </a:prstGeom>
          <a:noFill/>
          <a:ln/>
        </p:spPr>
        <p:txBody>
          <a:bodyPr wrap="square" lIns="0" tIns="0" rIns="0" bIns="0" rtlCol="0" anchor="t">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Model Optimization using GridSearchCV &amp; Cross-Validation.</a:t>
            </a:r>
            <a:endParaRPr lang="en-US" sz="950" dirty="0"/>
          </a:p>
        </p:txBody>
      </p:sp>
      <p:sp>
        <p:nvSpPr>
          <p:cNvPr id="12" name="Text 8"/>
          <p:cNvSpPr/>
          <p:nvPr/>
        </p:nvSpPr>
        <p:spPr>
          <a:xfrm>
            <a:off x="757238" y="3345954"/>
            <a:ext cx="3508921" cy="150019"/>
          </a:xfrm>
          <a:prstGeom prst="rect">
            <a:avLst/>
          </a:prstGeom>
          <a:noFill/>
          <a:ln/>
        </p:spPr>
        <p:txBody>
          <a:bodyPr wrap="square" lIns="0" tIns="0" rIns="0" bIns="0" rtlCol="0" anchor="t">
            <a:spAutoFit/>
          </a:bodyPr>
          <a:lstStyle/>
          <a:p>
            <a:pPr algn="l" indent="0" marL="0">
              <a:buNone/>
            </a:pPr>
            <a:r>
              <a:rPr lang="en-US" sz="950" dirty="0">
                <a:solidFill>
                  <a:srgbClr val="333333"/>
                </a:solidFill>
                <a:latin typeface="Segoe UI" pitchFamily="34" charset="0"/>
                <a:ea typeface="Segoe UI" pitchFamily="34" charset="-122"/>
                <a:cs typeface="Segoe UI" pitchFamily="34" charset="-120"/>
              </a:rPr>
              <a:t>Full-stack AI Deployment with Streamlit &amp; Model Serialization.</a:t>
            </a:r>
            <a:endParaRPr lang="en-US" sz="950" dirty="0"/>
          </a:p>
        </p:txBody>
      </p:sp>
      <p:sp>
        <p:nvSpPr>
          <p:cNvPr id="13" name="Shape 9"/>
          <p:cNvSpPr/>
          <p:nvPr/>
        </p:nvSpPr>
        <p:spPr>
          <a:xfrm>
            <a:off x="5370649" y="1550194"/>
            <a:ext cx="3194707" cy="2471738"/>
          </a:xfrm>
          <a:prstGeom prst="rect">
            <a:avLst/>
          </a:prstGeom>
          <a:solidFill>
            <a:srgbClr val="002244"/>
          </a:solidFill>
          <a:ln w="18288">
            <a:solidFill>
              <a:srgbClr val="FFD700"/>
            </a:solidFill>
            <a:prstDash val="solid"/>
          </a:ln>
        </p:spPr>
      </p:sp>
      <p:sp>
        <p:nvSpPr>
          <p:cNvPr id="14" name="Text 10"/>
          <p:cNvSpPr/>
          <p:nvPr/>
        </p:nvSpPr>
        <p:spPr>
          <a:xfrm>
            <a:off x="5656399" y="2214563"/>
            <a:ext cx="2623207" cy="389334"/>
          </a:xfrm>
          <a:prstGeom prst="rect">
            <a:avLst/>
          </a:prstGeom>
          <a:noFill/>
          <a:ln/>
        </p:spPr>
        <p:txBody>
          <a:bodyPr wrap="square" lIns="0" tIns="0" rIns="0" bIns="0" rtlCol="0" anchor="t">
            <a:spAutoFit/>
          </a:bodyPr>
          <a:lstStyle/>
          <a:p>
            <a:pPr algn="ctr" indent="0" marL="0">
              <a:buNone/>
            </a:pPr>
            <a:r>
              <a:rPr lang="en-US" sz="2450" b="1" dirty="0">
                <a:solidFill>
                  <a:srgbClr val="FFD700"/>
                </a:solidFill>
                <a:latin typeface="Courier New" pitchFamily="34" charset="0"/>
                <a:ea typeface="Courier New" pitchFamily="34" charset="-122"/>
                <a:cs typeface="Courier New" pitchFamily="34" charset="-120"/>
              </a:rPr>
              <a:t>THANK YOU</a:t>
            </a:r>
            <a:endParaRPr lang="en-US" sz="2450" dirty="0"/>
          </a:p>
        </p:txBody>
      </p:sp>
      <p:sp>
        <p:nvSpPr>
          <p:cNvPr id="15" name="Text 11"/>
          <p:cNvSpPr/>
          <p:nvPr/>
        </p:nvSpPr>
        <p:spPr>
          <a:xfrm>
            <a:off x="5656399" y="2746772"/>
            <a:ext cx="2623207" cy="196453"/>
          </a:xfrm>
          <a:prstGeom prst="rect">
            <a:avLst/>
          </a:prstGeom>
          <a:noFill/>
          <a:ln/>
        </p:spPr>
        <p:txBody>
          <a:bodyPr wrap="square" lIns="0" tIns="0" rIns="0" bIns="0" rtlCol="0" anchor="t">
            <a:spAutoFit/>
          </a:bodyPr>
          <a:lstStyle/>
          <a:p>
            <a:pPr algn="ctr" indent="0" marL="0">
              <a:buNone/>
            </a:pPr>
            <a:r>
              <a:rPr lang="en-US" sz="1250" dirty="0">
                <a:solidFill>
                  <a:srgbClr val="FFFFFF"/>
                </a:solidFill>
                <a:latin typeface="Segoe UI" pitchFamily="34" charset="0"/>
                <a:ea typeface="Segoe UI" pitchFamily="34" charset="-122"/>
                <a:cs typeface="Segoe UI" pitchFamily="34" charset="-120"/>
              </a:rPr>
              <a:t>Any Questions?</a:t>
            </a:r>
            <a:endParaRPr lang="en-US" sz="1250" dirty="0"/>
          </a:p>
        </p:txBody>
      </p:sp>
      <p:pic>
        <p:nvPicPr>
          <p:cNvPr id="16" name="Image 1" descr="preencoded.png">    </p:cNvPr>
          <p:cNvPicPr>
            <a:picLocks noChangeAspect="1"/>
          </p:cNvPicPr>
          <p:nvPr/>
        </p:nvPicPr>
        <p:blipFill>
          <a:blip r:embed="rId2"/>
          <a:stretch>
            <a:fillRect/>
          </a:stretch>
        </p:blipFill>
        <p:spPr>
          <a:xfrm>
            <a:off x="5656399" y="3307556"/>
            <a:ext cx="96441" cy="100013"/>
          </a:xfrm>
          <a:prstGeom prst="rect">
            <a:avLst/>
          </a:prstGeom>
        </p:spPr>
      </p:pic>
      <p:sp>
        <p:nvSpPr>
          <p:cNvPr id="17" name="Text 12"/>
          <p:cNvSpPr/>
          <p:nvPr/>
        </p:nvSpPr>
        <p:spPr>
          <a:xfrm>
            <a:off x="5824277" y="3300413"/>
            <a:ext cx="1840074" cy="114300"/>
          </a:xfrm>
          <a:prstGeom prst="rect">
            <a:avLst/>
          </a:prstGeom>
          <a:noFill/>
          <a:ln/>
        </p:spPr>
        <p:txBody>
          <a:bodyPr wrap="square" lIns="0" tIns="0" rIns="0" bIns="0" rtlCol="0" anchor="t">
            <a:spAutoFit/>
          </a:bodyPr>
          <a:lstStyle/>
          <a:p>
            <a:pPr algn="l" indent="0" marL="0">
              <a:buNone/>
            </a:pPr>
            <a:r>
              <a:rPr lang="en-US" sz="750" dirty="0">
                <a:solidFill>
                  <a:srgbClr val="D1D9E6"/>
                </a:solidFill>
                <a:latin typeface="Segoe UI" pitchFamily="34" charset="0"/>
                <a:ea typeface="Segoe UI" pitchFamily="34" charset="-122"/>
                <a:cs typeface="Segoe UI" pitchFamily="34" charset="-120"/>
              </a:rPr>
              <a:t>github.com/[username]/spam-detection-ai</a:t>
            </a:r>
            <a:endParaRPr lang="en-US" sz="750" dirty="0"/>
          </a:p>
        </p:txBody>
      </p:sp>
      <p:pic>
        <p:nvPicPr>
          <p:cNvPr id="18" name="Image 2" descr="preencoded.png">    </p:cNvPr>
          <p:cNvPicPr>
            <a:picLocks noChangeAspect="1"/>
          </p:cNvPicPr>
          <p:nvPr/>
        </p:nvPicPr>
        <p:blipFill>
          <a:blip r:embed="rId3"/>
          <a:stretch>
            <a:fillRect/>
          </a:stretch>
        </p:blipFill>
        <p:spPr>
          <a:xfrm>
            <a:off x="5656399" y="3479006"/>
            <a:ext cx="100013" cy="100013"/>
          </a:xfrm>
          <a:prstGeom prst="rect">
            <a:avLst/>
          </a:prstGeom>
        </p:spPr>
      </p:pic>
      <p:sp>
        <p:nvSpPr>
          <p:cNvPr id="19" name="Text 13"/>
          <p:cNvSpPr/>
          <p:nvPr/>
        </p:nvSpPr>
        <p:spPr>
          <a:xfrm>
            <a:off x="5827849" y="3471863"/>
            <a:ext cx="1439745" cy="114300"/>
          </a:xfrm>
          <a:prstGeom prst="rect">
            <a:avLst/>
          </a:prstGeom>
          <a:noFill/>
          <a:ln/>
        </p:spPr>
        <p:txBody>
          <a:bodyPr wrap="square" lIns="0" tIns="0" rIns="0" bIns="0" rtlCol="0" anchor="t">
            <a:spAutoFit/>
          </a:bodyPr>
          <a:lstStyle/>
          <a:p>
            <a:pPr algn="l" indent="0" marL="0">
              <a:buNone/>
            </a:pPr>
            <a:r>
              <a:rPr lang="en-US" sz="750" dirty="0">
                <a:solidFill>
                  <a:srgbClr val="D1D9E6"/>
                </a:solidFill>
                <a:latin typeface="Segoe UI" pitchFamily="34" charset="0"/>
                <a:ea typeface="Segoe UI" pitchFamily="34" charset="-122"/>
                <a:cs typeface="Segoe UI" pitchFamily="34" charset="-120"/>
              </a:rPr>
              <a:t>spam-detector-app.streamlit.app</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2026-07-22T16:37:02Z</dcterms:created>
  <dcterms:modified xsi:type="dcterms:W3CDTF">2026-07-22T16:37:02Z</dcterms:modified>
</cp:coreProperties>
</file>